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5" r:id="rId4"/>
    <p:sldId id="276" r:id="rId5"/>
    <p:sldId id="324" r:id="rId6"/>
    <p:sldId id="299" r:id="rId7"/>
    <p:sldId id="326" r:id="rId8"/>
    <p:sldId id="325" r:id="rId9"/>
    <p:sldId id="321" r:id="rId10"/>
    <p:sldId id="315" r:id="rId11"/>
    <p:sldId id="322" r:id="rId12"/>
    <p:sldId id="329" r:id="rId13"/>
    <p:sldId id="330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5"/>
    <p:restoredTop sz="95470"/>
  </p:normalViewPr>
  <p:slideViewPr>
    <p:cSldViewPr snapToGrid="0" snapToObjects="1" showGuides="1">
      <p:cViewPr varScale="1">
        <p:scale>
          <a:sx n="124" d="100"/>
          <a:sy n="124" d="100"/>
        </p:scale>
        <p:origin x="872" y="168"/>
      </p:cViewPr>
      <p:guideLst>
        <p:guide orient="horz" pos="2160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FFF51-F109-2848-AC0D-9264BFE35FDB}" type="datetimeFigureOut">
              <a:rPr lang="en-KR" smtClean="0"/>
              <a:t>3/18/26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EDA04-7260-244A-80BB-50D27482D05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9861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32727-655A-B74C-9A55-ED04947C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C41B21-716F-1D47-8A41-1F0AF8F61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1BB7D-A82F-5042-B676-46976B4D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8A621D-91FB-4F4B-A114-4967C7A2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1715C-175F-904E-9BEF-ACE1987D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709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602CF-E8FB-1748-9ABA-C571A134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6D34B-1B89-9F49-9465-B520A99D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03336-59BD-9243-8762-E9741339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5497A4-0223-6548-9769-247D9247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3F4D3-2162-D843-8033-579E679D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084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10376-1ADD-0E4C-9C61-1F53E0B9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036B7F-6F36-5645-AE58-FA9834C8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614DAF-6C86-5B4B-8414-4D6AEFFA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3B4EA-D85E-644A-BC9A-1DBB938E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A5C1B9-023F-4C45-A7F8-09EB53D5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07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B574A-288B-924C-AABA-C996DFBB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70CFF5-BF78-6945-9B7F-2E701090B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3DF80E-6DB8-AD43-8701-11A7FE13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D2666A-483D-3A4A-9543-F5FD097E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7C0E1C-C44F-F247-8A2D-A82DD2B9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E012A1-E0F9-7E4D-86F1-296910C7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567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4DD90-2DE4-1C46-A6BB-4A0F41DA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3CA2FE-17F3-B744-86F6-620842FA0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7C65F-49E7-8F42-804B-E010C2027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C897F4-4D2C-A949-A69D-41278287A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41928F-A9F6-9E40-9679-F1131C4B1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07F1F-FF26-E741-9562-D4D24CB1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600B8B-9257-7D48-89B6-49427F61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094A1F-75E8-E748-BCF6-38798D0D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602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C95BA-2949-BC4D-B0EB-347780361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729DE4-E58C-ED4C-8405-54DF208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3CE434-8784-E143-B930-B6F22B38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C14333-16F9-5247-959D-8949468C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541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93CCC0-F9FF-D144-A0DA-474FB0DE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1B1FC7-CF59-DA4D-8499-F3ADEB0B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85E51-A286-504F-B7A7-6E892B7F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881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6B274-6716-004F-BF34-A120E059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F7261-4E5D-A749-8295-E5B4A3F7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004F6-9905-6540-8C3F-43C98F730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02CA32-4C6A-834B-AA0E-404490AA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BEAC2C-7DF2-1447-8383-BF5CB654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9EDEC1-EF87-6F48-917C-782EB835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919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F1B53-F77F-9842-AE2F-3FA174B0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47A3B3-7F65-944E-9F51-8FB628953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16C84B-3904-334C-AE47-229E8860F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785059-91B2-A64D-A42B-0CA2DD0F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B02B2-A5FC-7142-85B4-B002B4A8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1548DE-DC2D-054C-B286-42471588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755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F9DB4-4534-8744-955E-BD090F07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3E913D-1E7D-8246-A5AE-8E057F1B6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97EC5-415E-F446-BC03-3A11A24B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80F1A-78B7-D848-A3F5-AE564EF7F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E987C8-C0CD-3641-86EE-A8519CA3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9256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854F4B-AF42-5345-BD4E-95BD779B2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F6F511-3D03-D14A-982D-62B99F881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61A91-79E3-EF4E-B04F-E5F6A1985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1824B-8857-5D40-9490-3CF97588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6E7FE-A937-DD47-BD4B-C7CB8EB4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890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C57672-275C-B74E-9525-2667394FB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1238F-41A0-4D4B-80EE-A491CC26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CD7F15-D335-8842-8E2F-0ADCFA632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4549D-0856-8846-8190-ECE7C25F8748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BA34E-0017-9642-BD37-D29FE505E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8F10FA-F03C-F142-ACD3-E9B811BFC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46331-A23F-A249-BB8C-860D225CB2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435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6D61E4E1-038F-F3C0-81C1-CF167D3EF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275" y="639478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sz="9600" dirty="0"/>
              <a:t>디자인 패턴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011378AF-1152-CB41-69E9-7B9153CE8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822" y="3417103"/>
            <a:ext cx="9144000" cy="30864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2026. 3. 17</a:t>
            </a:r>
          </a:p>
          <a:p>
            <a:r>
              <a:rPr kumimoji="1" lang="ko-KR" altLang="en-US" dirty="0"/>
              <a:t>미림 </a:t>
            </a:r>
            <a:r>
              <a:rPr kumimoji="1" lang="ko-KR" altLang="en-US" dirty="0" err="1"/>
              <a:t>마이스터고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남궁성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 err="1"/>
              <a:t>seong.namkung@gmail.com</a:t>
            </a:r>
            <a:endParaRPr kumimoji="1" lang="en-US" altLang="ko-K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64E337-CC4F-BDCE-D87A-4928D85A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920" y="3333509"/>
            <a:ext cx="2400090" cy="315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2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디자인 패턴 목록</a:t>
            </a:r>
            <a:r>
              <a:rPr kumimoji="1" lang="en-US" altLang="ko-KR" dirty="0"/>
              <a:t>(1/3)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0919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Singleton – </a:t>
            </a:r>
            <a:r>
              <a:rPr kumimoji="1" lang="ko-KR" altLang="en-US" dirty="0"/>
              <a:t>인스턴스를 단 하나만 생성</a:t>
            </a:r>
            <a:r>
              <a:rPr kumimoji="1" lang="en-US" altLang="ko-KR" dirty="0"/>
              <a:t>(5)</a:t>
            </a:r>
            <a:r>
              <a:rPr kumimoji="1" lang="ko-KR" altLang="en-US" dirty="0"/>
              <a:t> </a:t>
            </a:r>
            <a:r>
              <a:rPr kumimoji="1" lang="en-US" altLang="ko-KR" dirty="0"/>
              <a:t>p.102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Flyweight – </a:t>
            </a:r>
            <a:r>
              <a:rPr kumimoji="1" lang="ko-KR" altLang="en-US" dirty="0"/>
              <a:t>같은 것을 공유해서 절약</a:t>
            </a:r>
            <a:r>
              <a:rPr kumimoji="1" lang="en-US" altLang="ko-KR" dirty="0"/>
              <a:t>(20) p.364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Prototype – </a:t>
            </a:r>
            <a:r>
              <a:rPr kumimoji="1" lang="ko-KR" altLang="en-US" dirty="0"/>
              <a:t>복사해서 인스턴스를 생성</a:t>
            </a:r>
            <a:r>
              <a:rPr kumimoji="1" lang="en-US" altLang="ko-KR" dirty="0"/>
              <a:t>(6) p.112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Template Method – </a:t>
            </a:r>
            <a:r>
              <a:rPr kumimoji="1" lang="ko-KR" altLang="en-US" dirty="0"/>
              <a:t>하위 클래스에서 구체적으로 처리</a:t>
            </a:r>
            <a:r>
              <a:rPr kumimoji="1" lang="en-US" altLang="ko-KR" dirty="0"/>
              <a:t>(3) p.74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Strategy – </a:t>
            </a:r>
            <a:r>
              <a:rPr kumimoji="1" lang="ko-KR" altLang="en-US" dirty="0"/>
              <a:t>알고리즘을 모두 바꿈</a:t>
            </a:r>
            <a:r>
              <a:rPr kumimoji="1" lang="en-US" altLang="ko-KR" dirty="0"/>
              <a:t>(10) p.186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kumimoji="1" lang="en-US" altLang="ko-KR" dirty="0"/>
              <a:t>Bridge – </a:t>
            </a:r>
            <a:r>
              <a:rPr kumimoji="1" lang="ko-KR" altLang="en-US" dirty="0"/>
              <a:t>기능 계층과 구현 계층을 나눔</a:t>
            </a:r>
            <a:r>
              <a:rPr kumimoji="1" lang="en-US" altLang="ko-KR" dirty="0"/>
              <a:t>(9) p.172</a:t>
            </a:r>
          </a:p>
          <a:p>
            <a:pPr marL="0" indent="0">
              <a:buNone/>
            </a:pPr>
            <a:r>
              <a:rPr kumimoji="1" lang="en-US" altLang="ko-KR" dirty="0"/>
              <a:t>7.  Composite – </a:t>
            </a:r>
            <a:r>
              <a:rPr kumimoji="1" lang="ko-KR" altLang="en-US" dirty="0"/>
              <a:t>그릇과 내용물을 동일시</a:t>
            </a:r>
            <a:r>
              <a:rPr kumimoji="1" lang="en-US" altLang="ko-KR" dirty="0"/>
              <a:t>(11) p.204</a:t>
            </a:r>
          </a:p>
          <a:p>
            <a:pPr marL="0" indent="0">
              <a:buNone/>
            </a:pPr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 Decorator – </a:t>
            </a:r>
            <a:r>
              <a:rPr kumimoji="1" lang="ko-KR" altLang="en-US" dirty="0"/>
              <a:t>장식물과 내용물을 동일시</a:t>
            </a:r>
            <a:r>
              <a:rPr kumimoji="1" lang="en-US" altLang="ko-KR" dirty="0"/>
              <a:t>(12) p.218</a:t>
            </a:r>
          </a:p>
          <a:p>
            <a:pPr marL="0" indent="0">
              <a:buNone/>
            </a:pPr>
            <a:r>
              <a:rPr kumimoji="1" lang="en-US" altLang="ko-KR" dirty="0"/>
              <a:t>9.  Command – </a:t>
            </a:r>
            <a:r>
              <a:rPr kumimoji="1" lang="ko-KR" altLang="en-US" dirty="0"/>
              <a:t>명령을 클래스로 표현</a:t>
            </a:r>
            <a:r>
              <a:rPr kumimoji="1" lang="en-US" altLang="ko-KR" dirty="0"/>
              <a:t>(22) p.394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FF85F-1A9D-E428-BDD1-97BDBFB99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653" y="219920"/>
            <a:ext cx="1898053" cy="2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9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디자인 패턴 목록</a:t>
            </a:r>
            <a:r>
              <a:rPr kumimoji="1" lang="en-US" altLang="ko-KR" dirty="0"/>
              <a:t>(2/3)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dirty="0"/>
              <a:t>10. State – </a:t>
            </a:r>
            <a:r>
              <a:rPr kumimoji="1" lang="ko-KR" altLang="en-US" dirty="0"/>
              <a:t>상태를 클래스로 표현</a:t>
            </a:r>
            <a:r>
              <a:rPr kumimoji="1" lang="en-US" altLang="ko-KR" dirty="0"/>
              <a:t>(19) p.340</a:t>
            </a:r>
          </a:p>
          <a:p>
            <a:pPr marL="0" indent="0">
              <a:buNone/>
            </a:pPr>
            <a:r>
              <a:rPr kumimoji="1" lang="en-US" altLang="ko-KR" dirty="0"/>
              <a:t>11. Proxy – </a:t>
            </a:r>
            <a:r>
              <a:rPr kumimoji="1" lang="ko-KR" altLang="en-US" dirty="0"/>
              <a:t>필요할 때 만들기</a:t>
            </a:r>
            <a:r>
              <a:rPr kumimoji="1" lang="en-US" altLang="ko-KR" dirty="0"/>
              <a:t>(21) p.380</a:t>
            </a:r>
          </a:p>
          <a:p>
            <a:pPr marL="0" indent="0">
              <a:buNone/>
            </a:pPr>
            <a:r>
              <a:rPr kumimoji="1" lang="en-US" altLang="ko-KR" dirty="0"/>
              <a:t>12.</a:t>
            </a:r>
            <a:r>
              <a:rPr kumimoji="1" lang="ko-KR" altLang="en-US" dirty="0"/>
              <a:t> </a:t>
            </a:r>
            <a:r>
              <a:rPr kumimoji="1" lang="en-US" altLang="ko-KR" dirty="0"/>
              <a:t>Observer – </a:t>
            </a:r>
            <a:r>
              <a:rPr kumimoji="1" lang="ko-KR" altLang="en-US" dirty="0"/>
              <a:t>상태 변화를 통보</a:t>
            </a:r>
            <a:r>
              <a:rPr kumimoji="1" lang="en-US" altLang="ko-KR" dirty="0"/>
              <a:t>(17) p.308</a:t>
            </a:r>
          </a:p>
          <a:p>
            <a:pPr marL="0" indent="0">
              <a:buNone/>
            </a:pPr>
            <a:r>
              <a:rPr kumimoji="1" lang="en-US" altLang="ko-KR" dirty="0"/>
              <a:t>13.</a:t>
            </a:r>
            <a:r>
              <a:rPr kumimoji="1" lang="ko-KR" altLang="en-US" dirty="0"/>
              <a:t> </a:t>
            </a:r>
            <a:r>
              <a:rPr kumimoji="1" lang="en-US" altLang="ko-KR" dirty="0"/>
              <a:t>Memento –</a:t>
            </a:r>
            <a:r>
              <a:rPr kumimoji="1" lang="ko-KR" altLang="en-US" dirty="0"/>
              <a:t> 상태를 저장</a:t>
            </a:r>
            <a:r>
              <a:rPr kumimoji="1" lang="en-US" altLang="ko-KR" dirty="0"/>
              <a:t>(18) p.322</a:t>
            </a:r>
          </a:p>
          <a:p>
            <a:pPr marL="0" indent="0">
              <a:buNone/>
            </a:pPr>
            <a:r>
              <a:rPr kumimoji="1" lang="en-US" altLang="ko-KR" dirty="0"/>
              <a:t>14. Factory Method - </a:t>
            </a:r>
            <a:r>
              <a:rPr kumimoji="1" lang="ko-KR" altLang="en-US" dirty="0"/>
              <a:t>하위 클래스에서 인스턴스를 생성</a:t>
            </a:r>
            <a:r>
              <a:rPr kumimoji="1" lang="en-US" altLang="ko-KR" dirty="0"/>
              <a:t>(4) p.88</a:t>
            </a:r>
          </a:p>
          <a:p>
            <a:pPr marL="0" indent="0">
              <a:buNone/>
            </a:pPr>
            <a:r>
              <a:rPr kumimoji="1" lang="en-US" altLang="ko-KR" dirty="0"/>
              <a:t>15. Abstract Factory – </a:t>
            </a:r>
            <a:r>
              <a:rPr kumimoji="1" lang="ko-KR" altLang="en-US" dirty="0"/>
              <a:t>부품을 조립해서 제품을 만듦</a:t>
            </a:r>
            <a:r>
              <a:rPr kumimoji="1" lang="en-US" altLang="ko-KR" dirty="0"/>
              <a:t>(8) p.144</a:t>
            </a:r>
          </a:p>
          <a:p>
            <a:pPr marL="0" indent="0">
              <a:buNone/>
            </a:pPr>
            <a:r>
              <a:rPr kumimoji="1" lang="en-US" altLang="ko-KR" dirty="0"/>
              <a:t>16. Builder – </a:t>
            </a:r>
            <a:r>
              <a:rPr kumimoji="1" lang="ko-KR" altLang="en-US" dirty="0"/>
              <a:t>복잡한 인스턴스를 조립</a:t>
            </a:r>
            <a:r>
              <a:rPr kumimoji="1" lang="en-US" altLang="ko-KR" dirty="0"/>
              <a:t>(7) p.128</a:t>
            </a:r>
          </a:p>
          <a:p>
            <a:pPr marL="0" indent="0">
              <a:buNone/>
            </a:pPr>
            <a:r>
              <a:rPr kumimoji="1" lang="en-US" altLang="ko-KR" dirty="0"/>
              <a:t>17.</a:t>
            </a:r>
            <a:r>
              <a:rPr kumimoji="1" lang="ko-KR" altLang="en-US" dirty="0"/>
              <a:t> </a:t>
            </a:r>
            <a:r>
              <a:rPr kumimoji="1" lang="en-US" altLang="ko-KR" dirty="0"/>
              <a:t>Adapter – </a:t>
            </a:r>
            <a:r>
              <a:rPr kumimoji="1" lang="ko-KR" altLang="en-US" dirty="0"/>
              <a:t>사이에 끼워 재사용</a:t>
            </a:r>
            <a:r>
              <a:rPr kumimoji="1" lang="en-US" altLang="ko-KR" dirty="0"/>
              <a:t>(2) p.58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8811B-AFE9-FAF8-2965-C9E1F0B4A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653" y="219920"/>
            <a:ext cx="1898053" cy="2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1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디자인 패턴 목록</a:t>
            </a:r>
            <a:r>
              <a:rPr kumimoji="1" lang="en-US" altLang="ko-KR" dirty="0"/>
              <a:t>(3/3)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E329A-D954-0348-A782-9BCCBB53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dirty="0"/>
              <a:t>18. Iterator – </a:t>
            </a:r>
            <a:r>
              <a:rPr kumimoji="1" lang="ko-KR" altLang="en-US" dirty="0"/>
              <a:t>처리를 반복</a:t>
            </a:r>
            <a:r>
              <a:rPr kumimoji="1" lang="en-US" altLang="ko-KR" dirty="0"/>
              <a:t>(1) p.42</a:t>
            </a:r>
          </a:p>
          <a:p>
            <a:pPr marL="0" indent="0">
              <a:buNone/>
            </a:pPr>
            <a:r>
              <a:rPr kumimoji="1" lang="en-US" altLang="ko-KR" dirty="0"/>
              <a:t>19.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Visitor – </a:t>
            </a:r>
            <a:r>
              <a:rPr kumimoji="1" lang="ko-KR" altLang="en-US" dirty="0"/>
              <a:t>데이터 구조를 돌아다니면서 처리</a:t>
            </a:r>
            <a:r>
              <a:rPr kumimoji="1" lang="en-US" altLang="ko-KR" dirty="0"/>
              <a:t>(13) p.240</a:t>
            </a:r>
          </a:p>
          <a:p>
            <a:pPr marL="0" indent="0">
              <a:buNone/>
            </a:pPr>
            <a:r>
              <a:rPr kumimoji="1" lang="en-US" altLang="ko-KR" dirty="0"/>
              <a:t>20.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Interpreter – </a:t>
            </a:r>
            <a:r>
              <a:rPr kumimoji="1" lang="ko-KR" altLang="en-US" dirty="0"/>
              <a:t>문법 규칙을 클래스로 표현</a:t>
            </a:r>
            <a:r>
              <a:rPr kumimoji="1" lang="en-US" altLang="ko-KR" dirty="0"/>
              <a:t>(23) p.414</a:t>
            </a:r>
          </a:p>
          <a:p>
            <a:pPr marL="0" indent="0">
              <a:buNone/>
            </a:pPr>
            <a:r>
              <a:rPr kumimoji="1" lang="en-US" altLang="ko-KR" dirty="0"/>
              <a:t>21.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Chain of Responsibility – </a:t>
            </a:r>
            <a:r>
              <a:rPr kumimoji="1" lang="ko-KR" altLang="en-US" dirty="0"/>
              <a:t>책임을 떠넘기기</a:t>
            </a:r>
            <a:r>
              <a:rPr kumimoji="1" lang="en-US" altLang="ko-KR" dirty="0"/>
              <a:t>(14) p.260</a:t>
            </a:r>
          </a:p>
          <a:p>
            <a:pPr marL="0" indent="0">
              <a:buNone/>
            </a:pPr>
            <a:r>
              <a:rPr kumimoji="1" lang="en-US" altLang="ko-KR" dirty="0"/>
              <a:t>22.</a:t>
            </a:r>
            <a:r>
              <a:rPr kumimoji="1" lang="ko-KR" altLang="en-US" dirty="0"/>
              <a:t> </a:t>
            </a:r>
            <a:r>
              <a:rPr kumimoji="1" lang="en-US" altLang="ko-KR" dirty="0"/>
              <a:t>Facade – </a:t>
            </a:r>
            <a:r>
              <a:rPr kumimoji="1" lang="ko-KR" altLang="en-US" dirty="0"/>
              <a:t>단순한 창구 만들기</a:t>
            </a:r>
            <a:r>
              <a:rPr kumimoji="1" lang="en-US" altLang="ko-KR" dirty="0"/>
              <a:t>(15) p.274</a:t>
            </a:r>
          </a:p>
          <a:p>
            <a:pPr marL="0" indent="0">
              <a:buNone/>
            </a:pPr>
            <a:r>
              <a:rPr kumimoji="1" lang="en-US" altLang="ko-KR" dirty="0"/>
              <a:t>23.</a:t>
            </a:r>
            <a:r>
              <a:rPr kumimoji="1" lang="ko-KR" altLang="en-US" dirty="0"/>
              <a:t> </a:t>
            </a:r>
            <a:r>
              <a:rPr kumimoji="1" lang="en-US" altLang="ko-KR" dirty="0"/>
              <a:t>Mediator – </a:t>
            </a:r>
            <a:r>
              <a:rPr kumimoji="1" lang="ko-KR" altLang="en-US" dirty="0"/>
              <a:t>중재자를 통해 처리</a:t>
            </a:r>
            <a:r>
              <a:rPr kumimoji="1" lang="en-US" altLang="ko-KR" dirty="0"/>
              <a:t>(16) p.288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57117-231E-BE68-B754-9F8ACD20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020" y="208345"/>
            <a:ext cx="1898053" cy="2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2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E130E-F26D-4548-A7BA-1B82B76A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객체지향개념 </a:t>
            </a:r>
            <a:r>
              <a:rPr kumimoji="1" lang="en-US" altLang="ko-KR" dirty="0"/>
              <a:t>5</a:t>
            </a:r>
            <a:r>
              <a:rPr kumimoji="1" lang="ko-KR" altLang="en-US" dirty="0"/>
              <a:t>가지 원칙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SOLID 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0FC770-7C89-3F44-B957-10E446E4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SRP – </a:t>
            </a:r>
            <a:r>
              <a:rPr kumimoji="1" lang="ko-KR" altLang="en-US" dirty="0"/>
              <a:t>단일 책임의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하나의 메서드는 하나의 기능만</a:t>
            </a:r>
            <a:endParaRPr kumimoji="1" lang="en-US" altLang="ko-KR" dirty="0"/>
          </a:p>
          <a:p>
            <a:r>
              <a:rPr kumimoji="1" lang="en-US" altLang="ko-KR" dirty="0"/>
              <a:t>OCP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개방 폐쇄 원칙</a:t>
            </a:r>
            <a:r>
              <a:rPr kumimoji="1" lang="en-US" altLang="ko-KR" dirty="0"/>
              <a:t>(</a:t>
            </a:r>
            <a:r>
              <a:rPr kumimoji="1" lang="ko-KR" altLang="en-US" dirty="0"/>
              <a:t>상속 </a:t>
            </a:r>
            <a:r>
              <a:rPr kumimoji="1" lang="en-US" altLang="ko-KR" dirty="0"/>
              <a:t>Open, </a:t>
            </a:r>
            <a:r>
              <a:rPr kumimoji="1" lang="ko-KR" altLang="en-US" dirty="0"/>
              <a:t>변경 </a:t>
            </a:r>
            <a:r>
              <a:rPr kumimoji="1" lang="en-US" altLang="ko-KR" dirty="0"/>
              <a:t>Close).</a:t>
            </a:r>
            <a:r>
              <a:rPr kumimoji="1" lang="ko-KR" altLang="en-US" dirty="0"/>
              <a:t> 변경</a:t>
            </a:r>
            <a:r>
              <a:rPr kumimoji="1" lang="en-US" altLang="ko-KR" dirty="0"/>
              <a:t>x </a:t>
            </a:r>
            <a:r>
              <a:rPr kumimoji="1" lang="ko-KR" altLang="en-US" dirty="0"/>
              <a:t>상속</a:t>
            </a:r>
            <a:r>
              <a:rPr kumimoji="1" lang="en-US" altLang="ko-KR" dirty="0"/>
              <a:t>o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LSP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리스코프</a:t>
            </a:r>
            <a:r>
              <a:rPr kumimoji="1" lang="ko-KR" altLang="en-US" dirty="0"/>
              <a:t> 치환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조상을 자손으로 대체 가능해야</a:t>
            </a:r>
            <a:endParaRPr kumimoji="1" lang="en-US" altLang="ko-KR" dirty="0"/>
          </a:p>
          <a:p>
            <a:r>
              <a:rPr kumimoji="1" lang="en-US" altLang="ko-KR" dirty="0"/>
              <a:t>ISP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인터페이스 분리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다른 목적의 인터페이스는 분리</a:t>
            </a:r>
            <a:endParaRPr kumimoji="1" lang="en-US" altLang="ko-KR" dirty="0"/>
          </a:p>
          <a:p>
            <a:r>
              <a:rPr kumimoji="1" lang="en-US" altLang="ko-KR" dirty="0"/>
              <a:t>DIP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의존성 역전 원칙</a:t>
            </a:r>
            <a:r>
              <a:rPr kumimoji="1" lang="en-US" altLang="ko-KR" dirty="0"/>
              <a:t>.</a:t>
            </a:r>
            <a:r>
              <a:rPr kumimoji="1" lang="ko-KR" altLang="en-US" dirty="0"/>
              <a:t> 구체화 의존</a:t>
            </a:r>
            <a:r>
              <a:rPr kumimoji="1" lang="en-US" altLang="ko-KR" dirty="0"/>
              <a:t>x, </a:t>
            </a:r>
            <a:r>
              <a:rPr kumimoji="1" lang="ko-KR" altLang="en-US" dirty="0"/>
              <a:t>추상화 의존</a:t>
            </a:r>
            <a:r>
              <a:rPr kumimoji="1" lang="en-US" altLang="ko-KR" dirty="0"/>
              <a:t>o</a:t>
            </a:r>
          </a:p>
          <a:p>
            <a:pPr marL="0" indent="0">
              <a:buNone/>
            </a:pPr>
            <a:r>
              <a:rPr kumimoji="1" lang="en-US" altLang="ko-KR" dirty="0"/>
              <a:t>          </a:t>
            </a:r>
            <a:r>
              <a:rPr kumimoji="1" lang="ko-KR" altLang="en-US" dirty="0"/>
              <a:t>클래스가 아닌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인터페이스에 의존하라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CCE3-29DE-E49C-1298-D28FE8CF0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802" y="4166887"/>
            <a:ext cx="1898053" cy="2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1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2" y="0"/>
            <a:ext cx="12466834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-1.</a:t>
            </a:r>
            <a:r>
              <a:rPr kumimoji="1" lang="ko-KR" altLang="en-US" sz="4000" dirty="0"/>
              <a:t> 디자인 패턴 공부의 시작</a:t>
            </a:r>
            <a:endParaRPr kumimoji="1" lang="en-US" altLang="ko-KR" sz="40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7AA4540-D2BF-7AB9-077A-9C1D4CB45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180" y="13526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ko-KR" altLang="en-US" b="1" dirty="0"/>
              <a:t>생성자의 단점</a:t>
            </a:r>
            <a:endParaRPr kumimoji="1" lang="en-US" altLang="ko-KR" b="1" dirty="0"/>
          </a:p>
          <a:p>
            <a:pPr marL="0" indent="0">
              <a:buNone/>
            </a:pPr>
            <a:r>
              <a:rPr kumimoji="1" lang="en-US" altLang="ko-KR" dirty="0"/>
              <a:t>1.</a:t>
            </a:r>
            <a:r>
              <a:rPr kumimoji="1" lang="ko-KR" altLang="en-US" dirty="0"/>
              <a:t> 항상 새로운 객체를 생성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factory </a:t>
            </a:r>
            <a:r>
              <a:rPr kumimoji="1" lang="ko-KR" altLang="en-US" dirty="0"/>
              <a:t>메서드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Flyweight</a:t>
            </a:r>
            <a:r>
              <a:rPr kumimoji="1" lang="ko-KR" altLang="en-US" dirty="0"/>
              <a:t>패턴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2.</a:t>
            </a:r>
            <a:r>
              <a:rPr kumimoji="1" lang="ko-KR" altLang="en-US" dirty="0"/>
              <a:t> 매개변수가 많아지면 구분 어려움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Builder</a:t>
            </a:r>
            <a:r>
              <a:rPr kumimoji="1" lang="ko-KR" altLang="en-US" dirty="0"/>
              <a:t>패턴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96FF4-2CF8-A21A-5044-33AEB0178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475" y="2996322"/>
            <a:ext cx="7245132" cy="362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53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EB5366-0438-01DF-FA18-78AD513C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993" y="3691759"/>
            <a:ext cx="5689600" cy="24384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2" y="0"/>
            <a:ext cx="12466834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0.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Factory method – </a:t>
            </a:r>
            <a:r>
              <a:rPr kumimoji="1" lang="ko-KR" altLang="en-US" sz="4000" dirty="0"/>
              <a:t>객체를 반환하는 메서드</a:t>
            </a:r>
            <a:endParaRPr kumimoji="1" lang="en-US" altLang="ko-KR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EB020-79EE-8129-54DC-E9350861C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24" y="1165990"/>
            <a:ext cx="8387475" cy="2468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B964CE-499A-E25C-62BC-6154A64F1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48" y="3778470"/>
            <a:ext cx="5511800" cy="228600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83A346BF-10B8-EE48-06D4-F5DF3FF369ED}"/>
              </a:ext>
            </a:extLst>
          </p:cNvPr>
          <p:cNvSpPr/>
          <p:nvPr/>
        </p:nvSpPr>
        <p:spPr>
          <a:xfrm>
            <a:off x="5507421" y="4698124"/>
            <a:ext cx="893379" cy="3993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60835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C503C-7848-D146-9A4E-AEEC0C0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62" y="0"/>
            <a:ext cx="12466834" cy="1325563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1.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Singleton – </a:t>
            </a:r>
            <a:r>
              <a:rPr kumimoji="1" lang="ko-KR" altLang="en-US" sz="4000" dirty="0"/>
              <a:t>인스턴스를 단 하나만 생성</a:t>
            </a:r>
            <a:endParaRPr kumimoji="1" lang="en-US" altLang="ko-KR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7EF861-38E6-EB41-B8CA-CF22A2B89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174" y="2530167"/>
            <a:ext cx="3318528" cy="227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0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9F7D06C-E57E-4627-5E48-E6C8A6C1B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2046"/>
            <a:ext cx="8233042" cy="30928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BF9AB97-A79F-DFAC-C39E-4578DD333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539169"/>
            <a:ext cx="5333370" cy="31970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1.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Singleton – </a:t>
            </a:r>
            <a:r>
              <a:rPr kumimoji="1" lang="ko-KR" altLang="en-US" sz="4000" dirty="0"/>
              <a:t>인스턴스를 단 하나만 생성</a:t>
            </a:r>
            <a:endParaRPr kumimoji="1"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02925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1DF60C-B099-B148-8C5D-2E9948877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654" y="934706"/>
            <a:ext cx="5581353" cy="592329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4B0CE0F-D26F-B30A-352B-D43ECC13A512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2.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Flyweight – </a:t>
            </a:r>
            <a:r>
              <a:rPr kumimoji="1" lang="ko-KR" altLang="en-US" sz="4000" dirty="0"/>
              <a:t>인스턴스를 미리 생성해서 공유</a:t>
            </a:r>
            <a:r>
              <a:rPr kumimoji="1" lang="en-US" altLang="ko-KR" sz="4000" dirty="0"/>
              <a:t>(n</a:t>
            </a:r>
            <a:r>
              <a:rPr kumimoji="1" lang="ko-KR" altLang="en-US" sz="4000" dirty="0"/>
              <a:t>개</a:t>
            </a:r>
            <a:r>
              <a:rPr kumimoji="1" lang="en-US" altLang="ko-KR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472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7A5B6C2-6F0F-FD5F-22FE-C60DDFE44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22" y="1068480"/>
            <a:ext cx="6603696" cy="55856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A355A3-B61B-8BC7-E615-B0FA65DF0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703" y="4133764"/>
            <a:ext cx="5380210" cy="25203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8C6128-280A-3E2D-48B6-52DB5412F378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2.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Flyweight – </a:t>
            </a:r>
            <a:r>
              <a:rPr kumimoji="1" lang="ko-KR" altLang="en-US" sz="4000" dirty="0"/>
              <a:t>인스턴스를 미리 생성해서 공유</a:t>
            </a:r>
            <a:r>
              <a:rPr kumimoji="1" lang="en-US" altLang="ko-KR" sz="4000" dirty="0"/>
              <a:t>(n</a:t>
            </a:r>
            <a:r>
              <a:rPr kumimoji="1" lang="ko-KR" altLang="en-US" sz="4000" dirty="0"/>
              <a:t>개</a:t>
            </a:r>
            <a:r>
              <a:rPr kumimoji="1" lang="en-US" altLang="ko-KR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32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2.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Flyweight – </a:t>
            </a:r>
            <a:r>
              <a:rPr kumimoji="1" lang="ko-KR" altLang="en-US" sz="4000" dirty="0"/>
              <a:t>인스턴스를 미리 생성해서 공유</a:t>
            </a:r>
            <a:r>
              <a:rPr kumimoji="1" lang="en-US" altLang="ko-KR" sz="4000" dirty="0"/>
              <a:t>(n</a:t>
            </a:r>
            <a:r>
              <a:rPr kumimoji="1" lang="ko-KR" altLang="en-US" sz="4000" dirty="0"/>
              <a:t>개</a:t>
            </a:r>
            <a:r>
              <a:rPr kumimoji="1" lang="en-US" altLang="ko-KR" sz="4000" dirty="0"/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877581-CC20-4ECF-3BD3-37276B1F5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98" y="1994244"/>
            <a:ext cx="4213823" cy="20018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6E3DB8-2364-8192-A12F-52D44B8AF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07" y="1124045"/>
            <a:ext cx="6665021" cy="647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74D66C-C357-57B5-C450-DB5610D6D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694" y="1734065"/>
            <a:ext cx="741749" cy="360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1C740F-6E21-4FA7-C1A7-E4F758D746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27" y="4108294"/>
            <a:ext cx="7772400" cy="17388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97DEA9-9E94-3EE8-62C7-AD64D702A0D4}"/>
              </a:ext>
            </a:extLst>
          </p:cNvPr>
          <p:cNvSpPr/>
          <p:nvPr/>
        </p:nvSpPr>
        <p:spPr>
          <a:xfrm>
            <a:off x="1705232" y="3591697"/>
            <a:ext cx="3715265" cy="444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84973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81CA29-9690-AE52-7E5D-CB1C89F78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24" y="1181991"/>
            <a:ext cx="7283744" cy="3563003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97E032C0-EA16-4DC5-352B-92F48F8FD9F7}"/>
              </a:ext>
            </a:extLst>
          </p:cNvPr>
          <p:cNvSpPr txBox="1">
            <a:spLocks/>
          </p:cNvSpPr>
          <p:nvPr/>
        </p:nvSpPr>
        <p:spPr>
          <a:xfrm>
            <a:off x="375862" y="0"/>
            <a:ext cx="124668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4000" dirty="0"/>
              <a:t>2.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Flyweight – </a:t>
            </a:r>
            <a:r>
              <a:rPr kumimoji="1" lang="ko-KR" altLang="en-US" sz="4000" dirty="0"/>
              <a:t>인스턴스를 미리 생성해서 공유</a:t>
            </a:r>
            <a:r>
              <a:rPr kumimoji="1" lang="en-US" altLang="ko-KR" sz="4000" dirty="0"/>
              <a:t>(n</a:t>
            </a:r>
            <a:r>
              <a:rPr kumimoji="1" lang="ko-KR" altLang="en-US" sz="4000" dirty="0"/>
              <a:t>개</a:t>
            </a:r>
            <a:r>
              <a:rPr kumimoji="1" lang="en-US" altLang="ko-KR" sz="4000" dirty="0"/>
              <a:t>)</a:t>
            </a: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D19E0751-5A7D-CF2D-9AFC-ED7022067EE8}"/>
              </a:ext>
            </a:extLst>
          </p:cNvPr>
          <p:cNvGraphicFramePr>
            <a:graphicFrameLocks noGrp="1"/>
          </p:cNvGraphicFramePr>
          <p:nvPr/>
        </p:nvGraphicFramePr>
        <p:xfrm>
          <a:off x="8136245" y="1255124"/>
          <a:ext cx="2086912" cy="3423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80">
                  <a:extLst>
                    <a:ext uri="{9D8B030D-6E8A-4147-A177-3AD203B41FA5}">
                      <a16:colId xmlns:a16="http://schemas.microsoft.com/office/drawing/2014/main" val="595111384"/>
                    </a:ext>
                  </a:extLst>
                </a:gridCol>
                <a:gridCol w="983032">
                  <a:extLst>
                    <a:ext uri="{9D8B030D-6E8A-4147-A177-3AD203B41FA5}">
                      <a16:colId xmlns:a16="http://schemas.microsoft.com/office/drawing/2014/main" val="397331476"/>
                    </a:ext>
                  </a:extLst>
                </a:gridCol>
              </a:tblGrid>
              <a:tr h="375965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charName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fontdata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698160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440823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598748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809882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“3”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07809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“4”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376112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“5”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380068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“6”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598266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“7”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758071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“8”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995703"/>
                  </a:ext>
                </a:extLst>
              </a:tr>
              <a:tr h="304616"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“9”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dirty="0"/>
                        <a:t>0x1000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37501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F0A6136-1963-C18F-0CDA-0BBCC4AE8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221" y="1572054"/>
            <a:ext cx="822293" cy="1006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B709BC-9214-E1F6-1C4C-74BE763603BB}"/>
              </a:ext>
            </a:extLst>
          </p:cNvPr>
          <p:cNvSpPr txBox="1"/>
          <p:nvPr/>
        </p:nvSpPr>
        <p:spPr>
          <a:xfrm>
            <a:off x="10865715" y="2570204"/>
            <a:ext cx="799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100" dirty="0"/>
              <a:t>0x200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4BA03-CE69-CC6C-7FD1-788A67F4F17F}"/>
              </a:ext>
            </a:extLst>
          </p:cNvPr>
          <p:cNvSpPr txBox="1"/>
          <p:nvPr/>
        </p:nvSpPr>
        <p:spPr>
          <a:xfrm>
            <a:off x="10795692" y="1388074"/>
            <a:ext cx="799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100" dirty="0"/>
              <a:t>0x100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3D2D92-8882-12EC-0B45-B0C48CDA760D}"/>
              </a:ext>
            </a:extLst>
          </p:cNvPr>
          <p:cNvCxnSpPr>
            <a:cxnSpLocks/>
          </p:cNvCxnSpPr>
          <p:nvPr/>
        </p:nvCxnSpPr>
        <p:spPr>
          <a:xfrm flipV="1">
            <a:off x="10206688" y="1551830"/>
            <a:ext cx="597242" cy="252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A35F75-00A7-C5CA-825A-7920856AD659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0219044" y="2096527"/>
            <a:ext cx="646671" cy="604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94F43B7-E5CA-458B-7D73-96B8EFFDD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398" y="2800862"/>
            <a:ext cx="656304" cy="8177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E564A2-AC0D-CBEE-1813-4E441659C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3858" y="3871781"/>
            <a:ext cx="678838" cy="8649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772511-6C3C-C083-A9F1-B5F6773996A5}"/>
              </a:ext>
            </a:extLst>
          </p:cNvPr>
          <p:cNvSpPr txBox="1"/>
          <p:nvPr/>
        </p:nvSpPr>
        <p:spPr>
          <a:xfrm>
            <a:off x="10845119" y="3612290"/>
            <a:ext cx="799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100" dirty="0"/>
              <a:t>0x300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7785F4A-22EE-C051-562F-D5B9FF6B0C70}"/>
              </a:ext>
            </a:extLst>
          </p:cNvPr>
          <p:cNvCxnSpPr>
            <a:cxnSpLocks/>
          </p:cNvCxnSpPr>
          <p:nvPr/>
        </p:nvCxnSpPr>
        <p:spPr>
          <a:xfrm>
            <a:off x="10214926" y="2397209"/>
            <a:ext cx="621956" cy="131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F1A4A0D0-CBE8-0A2C-B45C-60F1B8106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929" y="4687330"/>
            <a:ext cx="3251887" cy="1879450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4BD1FA4-4033-27AB-6196-95BDB1D5A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38" y="4847718"/>
            <a:ext cx="5162724" cy="170035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920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</TotalTime>
  <Words>552</Words>
  <Application>Microsoft Macintosh PowerPoint</Application>
  <PresentationFormat>Widescreen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테마</vt:lpstr>
      <vt:lpstr>디자인 패턴</vt:lpstr>
      <vt:lpstr>디자인 패턴 목록(1/3)</vt:lpstr>
      <vt:lpstr>디자인 패턴 목록(2/3)</vt:lpstr>
      <vt:lpstr>디자인 패턴 목록(3/3)</vt:lpstr>
      <vt:lpstr>객체지향개념 5가지 원칙 - SOLID </vt:lpstr>
      <vt:lpstr>-1. 디자인 패턴 공부의 시작</vt:lpstr>
      <vt:lpstr>0. Factory method – 객체를 반환하는 메서드</vt:lpstr>
      <vt:lpstr>1. Singleton – 인스턴스를 단 하나만 생성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 패턴</dc:title>
  <dc:creator>Namkung Seong</dc:creator>
  <cp:lastModifiedBy>seong Namkung</cp:lastModifiedBy>
  <cp:revision>119</cp:revision>
  <cp:lastPrinted>2023-10-21T05:56:55Z</cp:lastPrinted>
  <dcterms:created xsi:type="dcterms:W3CDTF">2023-10-12T23:55:57Z</dcterms:created>
  <dcterms:modified xsi:type="dcterms:W3CDTF">2026-03-17T22:41:54Z</dcterms:modified>
</cp:coreProperties>
</file>