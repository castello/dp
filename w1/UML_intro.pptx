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4" r:id="rId3"/>
    <p:sldId id="261" r:id="rId4"/>
    <p:sldId id="257" r:id="rId5"/>
    <p:sldId id="259" r:id="rId6"/>
    <p:sldId id="260" r:id="rId7"/>
    <p:sldId id="267" r:id="rId8"/>
    <p:sldId id="262" r:id="rId9"/>
    <p:sldId id="263" r:id="rId10"/>
    <p:sldId id="270" r:id="rId11"/>
    <p:sldId id="272" r:id="rId12"/>
    <p:sldId id="273" r:id="rId13"/>
    <p:sldId id="274" r:id="rId14"/>
    <p:sldId id="275" r:id="rId15"/>
    <p:sldId id="276" r:id="rId16"/>
    <p:sldId id="324" r:id="rId17"/>
    <p:sldId id="299" r:id="rId18"/>
    <p:sldId id="326" r:id="rId19"/>
    <p:sldId id="325" r:id="rId20"/>
    <p:sldId id="321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45"/>
    <p:restoredTop sz="95470"/>
  </p:normalViewPr>
  <p:slideViewPr>
    <p:cSldViewPr snapToGrid="0" snapToObjects="1" showGuides="1">
      <p:cViewPr varScale="1">
        <p:scale>
          <a:sx n="110" d="100"/>
          <a:sy n="110" d="100"/>
        </p:scale>
        <p:origin x="200" y="472"/>
      </p:cViewPr>
      <p:guideLst>
        <p:guide orient="horz" pos="2160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9FFF51-F109-2848-AC0D-9264BFE35FDB}" type="datetimeFigureOut">
              <a:rPr lang="en-KR" smtClean="0"/>
              <a:t>3/18/26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EDA04-7260-244A-80BB-50D27482D05C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98611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32727-655A-B74C-9A55-ED04947C6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C41B21-716F-1D47-8A41-1F0AF8F61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B1BB7D-A82F-5042-B676-46976B4DE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8A621D-91FB-4F4B-A114-4967C7A2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71715C-175F-904E-9BEF-ACE1987D0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7709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602CF-E8FB-1748-9ABA-C571A134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F6D34B-1B89-9F49-9465-B520A99D1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D03336-59BD-9243-8762-E9741339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5497A4-0223-6548-9769-247D92470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03F4D3-2162-D843-8033-579E679D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0840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10376-1ADD-0E4C-9C61-1F53E0B91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036B7F-6F36-5645-AE58-FA9834C8D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614DAF-6C86-5B4B-8414-4D6AEFFA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83B4EA-D85E-644A-BC9A-1DBB938E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A5C1B9-023F-4C45-A7F8-09EB53D53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107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B574A-288B-924C-AABA-C996DFBB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70CFF5-BF78-6945-9B7F-2E701090B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3DF80E-6DB8-AD43-8701-11A7FE131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D2666A-483D-3A4A-9543-F5FD097EB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7C0E1C-C44F-F247-8A2D-A82DD2B9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E012A1-E0F9-7E4D-86F1-296910C7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567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44DD90-2DE4-1C46-A6BB-4A0F41DA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3CA2FE-17F3-B744-86F6-620842FA0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37C65F-49E7-8F42-804B-E010C2027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C897F4-4D2C-A949-A69D-41278287A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41928F-A9F6-9E40-9679-F1131C4B1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07F1F-FF26-E741-9562-D4D24CB15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E600B8B-9257-7D48-89B6-49427F61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094A1F-75E8-E748-BCF6-38798D0D7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602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7C95BA-2949-BC4D-B0EB-347780361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F729DE4-E58C-ED4C-8405-54DF2087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3CE434-8784-E143-B930-B6F22B385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C14333-16F9-5247-959D-8949468C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5417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93CCC0-F9FF-D144-A0DA-474FB0DE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1B1FC7-CF59-DA4D-8499-F3ADEB0B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385E51-A286-504F-B7A7-6E892B7F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8811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6B274-6716-004F-BF34-A120E059F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CF7261-4E5D-A749-8295-E5B4A3F74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5004F6-9905-6540-8C3F-43C98F730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02CA32-4C6A-834B-AA0E-404490AA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BEAC2C-7DF2-1447-8383-BF5CB654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9EDEC1-EF87-6F48-917C-782EB835A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919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F1B53-F77F-9842-AE2F-3FA174B05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47A3B3-7F65-944E-9F51-8FB628953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16C84B-3904-334C-AE47-229E8860F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785059-91B2-A64D-A42B-0CA2DD0F6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BB02B2-A5FC-7142-85B4-B002B4A87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1548DE-DC2D-054C-B286-42471588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5755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F9DB4-4534-8744-955E-BD090F077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3E913D-1E7D-8246-A5AE-8E057F1B6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97EC5-415E-F446-BC03-3A11A24BF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E80F1A-78B7-D848-A3F5-AE564EF7F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E987C8-C0CD-3641-86EE-A8519CA3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79256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854F4B-AF42-5345-BD4E-95BD779B2B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F6F511-3D03-D14A-982D-62B99F881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E61A91-79E3-EF4E-B04F-E5F6A1985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51824B-8857-5D40-9490-3CF97588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06E7FE-A937-DD47-BD4B-C7CB8EB4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8905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8C57672-275C-B74E-9525-2667394F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91238F-41A0-4D4B-80EE-A491CC268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CD7F15-D335-8842-8E2F-0ADCFA632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8BA34E-0017-9642-BD37-D29FE505E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8F10FA-F03C-F142-ACD3-E9B811BFC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74350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6D61E4E1-038F-F3C0-81C1-CF167D3EF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4275" y="639478"/>
            <a:ext cx="9144000" cy="2387600"/>
          </a:xfrm>
        </p:spPr>
        <p:txBody>
          <a:bodyPr>
            <a:normAutofit/>
          </a:bodyPr>
          <a:lstStyle/>
          <a:p>
            <a:r>
              <a:rPr kumimoji="1" lang="ko-KR" altLang="en-US" sz="9600" dirty="0"/>
              <a:t>디자인 패턴</a:t>
            </a:r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011378AF-1152-CB41-69E9-7B9153CE8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822" y="3417103"/>
            <a:ext cx="9144000" cy="3086438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2026. 3. 17</a:t>
            </a:r>
          </a:p>
          <a:p>
            <a:r>
              <a:rPr kumimoji="1" lang="ko-KR" altLang="en-US" dirty="0"/>
              <a:t>미림 </a:t>
            </a:r>
            <a:r>
              <a:rPr kumimoji="1" lang="ko-KR" altLang="en-US" dirty="0" err="1"/>
              <a:t>마이스터고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 err="1"/>
              <a:t>남궁성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en-US" altLang="ko-KR" dirty="0" err="1"/>
              <a:t>seong.namkung@gmail.com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03222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UML</a:t>
            </a:r>
            <a:r>
              <a:rPr lang="en" altLang="ko-KR" dirty="0"/>
              <a:t> </a:t>
            </a:r>
            <a:r>
              <a:rPr lang="en" altLang="ko-KR" sz="2400" dirty="0"/>
              <a:t>Unified Modeling Language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E329A-D954-0348-A782-9BCCBB53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177" y="1640430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시스템 개발을 위한 시각적인 설계 표기를 제공</a:t>
            </a:r>
            <a:endParaRPr lang="en-US" altLang="ko-KR" sz="2400" dirty="0"/>
          </a:p>
          <a:p>
            <a:r>
              <a:rPr lang="en" altLang="ko-KR" sz="2400" dirty="0"/>
              <a:t>UML</a:t>
            </a:r>
            <a:r>
              <a:rPr lang="ko-KR" altLang="en-US" sz="2400" dirty="0"/>
              <a:t>은 개발 방법론이나 개발 프로세스</a:t>
            </a:r>
            <a:r>
              <a:rPr lang="en-US" altLang="ko-KR" sz="2400" dirty="0"/>
              <a:t>, </a:t>
            </a:r>
            <a:r>
              <a:rPr lang="ko-KR" altLang="en-US" sz="2400" dirty="0"/>
              <a:t>프로그래밍 언어가 아니라 표준화된 모델링 언어</a:t>
            </a:r>
            <a:endParaRPr lang="en-US" altLang="ko-KR" sz="2400" dirty="0"/>
          </a:p>
          <a:p>
            <a:r>
              <a:rPr lang="en-US" altLang="ko-KR" sz="2400" dirty="0"/>
              <a:t>1990</a:t>
            </a:r>
            <a:r>
              <a:rPr lang="ko-KR" altLang="en-US" sz="2400" dirty="0"/>
              <a:t>년대 다양한 객체지향 방법론이 존재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    </a:t>
            </a:r>
            <a:r>
              <a:rPr lang="en" altLang="ko-KR" sz="2400" dirty="0"/>
              <a:t>OOD/</a:t>
            </a:r>
            <a:r>
              <a:rPr lang="en" altLang="ko-KR" sz="2400" dirty="0" err="1"/>
              <a:t>Booch</a:t>
            </a:r>
            <a:r>
              <a:rPr lang="en" altLang="ko-KR" sz="2400" dirty="0"/>
              <a:t>, OMT, OOAD, RR, GOOD, HOOD, OOSD, OOJSD </a:t>
            </a:r>
            <a:r>
              <a:rPr lang="ko-KR" altLang="en-US" sz="2400" dirty="0"/>
              <a:t>등 </a:t>
            </a:r>
            <a:endParaRPr lang="en-US" altLang="ko-KR" sz="2400" dirty="0"/>
          </a:p>
          <a:p>
            <a:r>
              <a:rPr lang="ko-KR" altLang="en-US" sz="2400" dirty="0"/>
              <a:t>각 객체 지향 방법론은 독자적인 표기법과 절차를 정의</a:t>
            </a:r>
            <a:r>
              <a:rPr lang="en-US" altLang="ko-KR" sz="2400" dirty="0"/>
              <a:t>.</a:t>
            </a:r>
            <a:r>
              <a:rPr lang="ko-KR" altLang="en-US" sz="2400" dirty="0"/>
              <a:t> 호환성 문제 발생</a:t>
            </a:r>
            <a:endParaRPr lang="en-US" altLang="ko-KR" sz="2400" dirty="0"/>
          </a:p>
          <a:p>
            <a:r>
              <a:rPr lang="en" altLang="ko-KR" sz="2400" dirty="0"/>
              <a:t>UML</a:t>
            </a:r>
            <a:r>
              <a:rPr lang="ko-KR" altLang="en-US" sz="2400" dirty="0"/>
              <a:t>은 이런 문제점을 해결하기 위한 노력으로 탄생한 통한 모델링 언어</a:t>
            </a:r>
          </a:p>
          <a:p>
            <a:endParaRPr kumimoji="1" lang="ko-KR" alt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B2D991-F9A8-48B6-5CE7-7074178EE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2945" y="4674982"/>
            <a:ext cx="1946301" cy="207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805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UML</a:t>
            </a:r>
            <a:r>
              <a:rPr kumimoji="1" lang="ko-KR" altLang="en-US" dirty="0"/>
              <a:t>이란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E329A-D954-0348-A782-9BCCBB53A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ko-KR" dirty="0"/>
              <a:t>UML</a:t>
            </a:r>
            <a:r>
              <a:rPr lang="ko-KR" altLang="en-US" dirty="0"/>
              <a:t>은 시각화 언어다</a:t>
            </a:r>
            <a:r>
              <a:rPr lang="en-US" altLang="ko-KR" dirty="0"/>
              <a:t>. - </a:t>
            </a:r>
            <a:r>
              <a:rPr lang="en" altLang="ko-KR" dirty="0"/>
              <a:t>Visualization</a:t>
            </a:r>
          </a:p>
          <a:p>
            <a:r>
              <a:rPr lang="en" altLang="ko-KR" dirty="0"/>
              <a:t>UML</a:t>
            </a:r>
            <a:r>
              <a:rPr lang="ko-KR" altLang="en-US" dirty="0"/>
              <a:t>은 </a:t>
            </a:r>
            <a:r>
              <a:rPr lang="ko-KR" altLang="en-US" dirty="0" err="1"/>
              <a:t>명세화</a:t>
            </a:r>
            <a:r>
              <a:rPr lang="ko-KR" altLang="en-US" dirty="0"/>
              <a:t> 언어다</a:t>
            </a:r>
            <a:r>
              <a:rPr lang="en-US" altLang="ko-KR" dirty="0"/>
              <a:t>. - </a:t>
            </a:r>
            <a:r>
              <a:rPr lang="en" altLang="ko-KR" dirty="0"/>
              <a:t>Specification</a:t>
            </a:r>
          </a:p>
          <a:p>
            <a:r>
              <a:rPr lang="en" altLang="ko-KR" dirty="0"/>
              <a:t>UML</a:t>
            </a:r>
            <a:r>
              <a:rPr lang="ko-KR" altLang="en-US" dirty="0"/>
              <a:t>은 구축 언어다</a:t>
            </a:r>
            <a:r>
              <a:rPr lang="en-US" altLang="ko-KR" dirty="0"/>
              <a:t>. </a:t>
            </a:r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en" altLang="ko-KR" dirty="0"/>
              <a:t>Construction</a:t>
            </a:r>
          </a:p>
          <a:p>
            <a:r>
              <a:rPr lang="en" altLang="ko-KR" dirty="0"/>
              <a:t>UML</a:t>
            </a:r>
            <a:r>
              <a:rPr lang="ko-KR" altLang="en-US" dirty="0"/>
              <a:t>은 문서화 언어다</a:t>
            </a:r>
            <a:r>
              <a:rPr lang="en-US" altLang="ko-KR" dirty="0"/>
              <a:t>. - </a:t>
            </a:r>
            <a:r>
              <a:rPr lang="en" altLang="ko-KR" dirty="0"/>
              <a:t>Documentation</a:t>
            </a:r>
            <a:endParaRPr lang="en-US" altLang="ko-K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15689-F783-B25F-F09F-15B90BCDF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2945" y="4674982"/>
            <a:ext cx="1946301" cy="207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7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UML</a:t>
            </a:r>
            <a:r>
              <a:rPr kumimoji="1" lang="ko-KR" altLang="en-US" dirty="0"/>
              <a:t>의 다이어그램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E329A-D954-0348-A782-9BCCBB53A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40000"/>
              </a:lnSpc>
            </a:pPr>
            <a:r>
              <a:rPr lang="ko-KR" altLang="en-US" dirty="0"/>
              <a:t>정보 시스템을 다양한 시각화로 모델링가능하게 표준화된 다이어그램을 제공</a:t>
            </a:r>
            <a:endParaRPr lang="en-US" altLang="ko-KR" dirty="0"/>
          </a:p>
          <a:p>
            <a:pPr>
              <a:lnSpc>
                <a:spcPct val="140000"/>
              </a:lnSpc>
            </a:pPr>
            <a:endParaRPr lang="en-US" altLang="ko-KR" sz="1300" dirty="0"/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2300" dirty="0"/>
              <a:t>-</a:t>
            </a:r>
            <a:r>
              <a:rPr lang="ko-KR" altLang="en-US" sz="2300" dirty="0"/>
              <a:t> </a:t>
            </a:r>
            <a:r>
              <a:rPr lang="ko-KR" altLang="en-US" sz="2300" dirty="0" err="1"/>
              <a:t>유스</a:t>
            </a:r>
            <a:r>
              <a:rPr lang="en-US" altLang="ko-KR" sz="2300" dirty="0"/>
              <a:t> </a:t>
            </a:r>
            <a:r>
              <a:rPr lang="ko-KR" altLang="en-US" sz="2300" dirty="0"/>
              <a:t>케이스 다이어그램 </a:t>
            </a:r>
            <a:r>
              <a:rPr lang="en" altLang="ko-KR" sz="2300" dirty="0"/>
              <a:t>Use-case Diagram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" altLang="ko-KR" sz="2300" dirty="0"/>
              <a:t>-</a:t>
            </a:r>
            <a:r>
              <a:rPr lang="ko-KR" altLang="en-US" sz="2300" dirty="0"/>
              <a:t> 클래스 다이어그램 </a:t>
            </a:r>
            <a:r>
              <a:rPr lang="en" altLang="ko-KR" sz="2300" dirty="0"/>
              <a:t>Class Diagram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" altLang="ko-KR" sz="2300" dirty="0"/>
              <a:t>-</a:t>
            </a:r>
            <a:r>
              <a:rPr lang="ko-KR" altLang="en-US" sz="2300" dirty="0"/>
              <a:t> 순차 다이어그램 </a:t>
            </a:r>
            <a:r>
              <a:rPr lang="en" altLang="ko-KR" sz="2300" dirty="0"/>
              <a:t>Sequence Diagram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" altLang="ko-KR" sz="2300" dirty="0"/>
              <a:t>-</a:t>
            </a:r>
            <a:r>
              <a:rPr lang="ko-KR" altLang="en-US" sz="2300" dirty="0"/>
              <a:t> 통신 다이어그램 </a:t>
            </a:r>
            <a:r>
              <a:rPr lang="en" altLang="ko-KR" sz="2300" dirty="0"/>
              <a:t>Communication Diagram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" altLang="ko-KR" sz="2300" dirty="0"/>
              <a:t>-</a:t>
            </a:r>
            <a:r>
              <a:rPr lang="ko-KR" altLang="en-US" sz="2300" dirty="0"/>
              <a:t> 활동 다이어그램 </a:t>
            </a:r>
            <a:r>
              <a:rPr lang="en" altLang="ko-KR" sz="2300" dirty="0"/>
              <a:t>Activity Diagram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" altLang="ko-KR" sz="2300" dirty="0"/>
              <a:t>-</a:t>
            </a:r>
            <a:r>
              <a:rPr lang="ko-KR" altLang="en-US" sz="2300" dirty="0"/>
              <a:t> 상태 다이어그램 </a:t>
            </a:r>
            <a:r>
              <a:rPr lang="en" altLang="ko-KR" sz="2300" dirty="0"/>
              <a:t>State Diagram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" altLang="ko-KR" sz="2300" dirty="0"/>
              <a:t>-</a:t>
            </a:r>
            <a:r>
              <a:rPr lang="ko-KR" altLang="en-US" sz="2300" dirty="0"/>
              <a:t> 컴포넌트 다이어그램 </a:t>
            </a:r>
            <a:r>
              <a:rPr lang="en" altLang="ko-KR" sz="2300" dirty="0" err="1"/>
              <a:t>Compone</a:t>
            </a:r>
            <a:r>
              <a:rPr lang="en-US" altLang="ko-KR" sz="2300" dirty="0"/>
              <a:t>n</a:t>
            </a:r>
            <a:r>
              <a:rPr lang="en" altLang="ko-KR" sz="2300" dirty="0"/>
              <a:t>t Diagram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" altLang="ko-KR" sz="2300" dirty="0"/>
              <a:t>-</a:t>
            </a:r>
            <a:r>
              <a:rPr lang="ko-KR" altLang="en-US" sz="2300" dirty="0"/>
              <a:t> 배치 다이어그램 </a:t>
            </a:r>
            <a:r>
              <a:rPr lang="en" altLang="ko-KR" sz="2300" dirty="0"/>
              <a:t>Deployment Diagram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" altLang="ko-KR" sz="2300" dirty="0"/>
              <a:t>-</a:t>
            </a:r>
            <a:r>
              <a:rPr lang="ko-KR" altLang="en-US" sz="2300" dirty="0"/>
              <a:t> 패키지 다이어그램 </a:t>
            </a:r>
            <a:r>
              <a:rPr lang="en" altLang="ko-KR" sz="2300" dirty="0"/>
              <a:t>Package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D3715D-BC6D-4734-B5B8-F5A7C2B0C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2945" y="4674982"/>
            <a:ext cx="1946301" cy="207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480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객체 지향 모델링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E329A-D954-0348-A782-9BCCBB53A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모델링이란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ko-KR" altLang="en-US" dirty="0"/>
              <a:t>모델링은 개발하고자 하는 프로그램을 시각적으로 표현하는 것</a:t>
            </a:r>
          </a:p>
          <a:p>
            <a:pPr marL="0" indent="0">
              <a:buNone/>
            </a:pPr>
            <a:r>
              <a:rPr lang="ko-KR" altLang="en-US" dirty="0"/>
              <a:t>의뢰자의 요구에 맞게 쉽게 수정해서 결과적으로 유지보수 기간을 줄여 생산성을 높일 수 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객체 지향 모델링</a:t>
            </a:r>
          </a:p>
          <a:p>
            <a:pPr marL="0" indent="0">
              <a:buNone/>
            </a:pPr>
            <a:r>
              <a:rPr lang="ko-KR" altLang="en-US" dirty="0"/>
              <a:t>객체 지향 방법에서는 시스템을 객체의 관점으로 바라본다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객체 지향 시스템을 가시화하고 </a:t>
            </a:r>
            <a:r>
              <a:rPr lang="ko-KR" altLang="en-US" dirty="0" err="1"/>
              <a:t>명세화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문서화하는 것이 목적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8694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객체</a:t>
            </a:r>
            <a:r>
              <a:rPr kumimoji="1" lang="en-US" altLang="ko-KR" dirty="0"/>
              <a:t>,</a:t>
            </a:r>
            <a:r>
              <a:rPr kumimoji="1" lang="ko-KR" altLang="en-US" dirty="0"/>
              <a:t> 클래스</a:t>
            </a:r>
            <a:r>
              <a:rPr kumimoji="1" lang="en-US" altLang="ko-KR" dirty="0"/>
              <a:t>,</a:t>
            </a:r>
            <a:r>
              <a:rPr kumimoji="1" lang="ko-KR" altLang="en-US" dirty="0"/>
              <a:t> 메시지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E329A-D954-0348-A782-9BCCBB53A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객체와 클래스</a:t>
            </a:r>
          </a:p>
          <a:p>
            <a:pPr marL="0" indent="0">
              <a:buNone/>
            </a:pPr>
            <a:r>
              <a:rPr lang="ko-KR" altLang="en-US" sz="2200" dirty="0"/>
              <a:t>클래스 </a:t>
            </a:r>
            <a:r>
              <a:rPr lang="en-US" altLang="ko-KR" sz="2200" dirty="0"/>
              <a:t>: </a:t>
            </a:r>
            <a:r>
              <a:rPr lang="ko-KR" altLang="en-US" sz="2200" dirty="0"/>
              <a:t>객체를 정의한 것</a:t>
            </a:r>
          </a:p>
          <a:p>
            <a:pPr marL="0" indent="0">
              <a:buNone/>
            </a:pPr>
            <a:r>
              <a:rPr lang="ko-KR" altLang="en-US" sz="2200" dirty="0"/>
              <a:t>인스턴스 </a:t>
            </a:r>
            <a:r>
              <a:rPr lang="en-US" altLang="ko-KR" sz="2200" dirty="0"/>
              <a:t>: </a:t>
            </a:r>
            <a:r>
              <a:rPr lang="ko-KR" altLang="en-US" sz="2200" dirty="0"/>
              <a:t>클래스로부터 생성된 객체</a:t>
            </a:r>
          </a:p>
          <a:p>
            <a:pPr marL="0" indent="0">
              <a:buNone/>
            </a:pPr>
            <a:br>
              <a:rPr lang="ko-KR" altLang="en-US" dirty="0"/>
            </a:br>
            <a:endParaRPr lang="ko-KR" altLang="en-US" dirty="0"/>
          </a:p>
          <a:p>
            <a:r>
              <a:rPr lang="ko-KR" altLang="en-US" dirty="0"/>
              <a:t>메시지</a:t>
            </a:r>
          </a:p>
          <a:p>
            <a:pPr marL="0" indent="0">
              <a:buNone/>
            </a:pPr>
            <a:r>
              <a:rPr lang="ko-KR" altLang="en-US" sz="2200" dirty="0"/>
              <a:t>객체는 각각 독립적으로 존재</a:t>
            </a:r>
            <a:r>
              <a:rPr lang="en-US" altLang="ko-KR" sz="2200" dirty="0"/>
              <a:t>.</a:t>
            </a:r>
            <a:r>
              <a:rPr lang="ko-KR" altLang="en-US" sz="2200" dirty="0"/>
              <a:t> 다른 객체와 상호작용</a:t>
            </a:r>
            <a:endParaRPr lang="en-US" altLang="ko-KR" sz="2200" dirty="0"/>
          </a:p>
          <a:p>
            <a:pPr marL="0" indent="0">
              <a:buNone/>
            </a:pPr>
            <a:r>
              <a:rPr lang="ko-KR" altLang="en-US" sz="2200" dirty="0"/>
              <a:t>메시지는 객체간의 상호작용 수단</a:t>
            </a:r>
          </a:p>
          <a:p>
            <a:pPr marL="0" indent="0">
              <a:buNone/>
            </a:pPr>
            <a:r>
              <a:rPr lang="ko-KR" altLang="en-US" sz="2200" dirty="0"/>
              <a:t>메시지는 한 객체</a:t>
            </a:r>
            <a:r>
              <a:rPr lang="en-US" altLang="ko-KR" sz="2200" dirty="0"/>
              <a:t>(</a:t>
            </a:r>
            <a:r>
              <a:rPr lang="ko-KR" altLang="en-US" sz="2200" dirty="0"/>
              <a:t>송신 객체</a:t>
            </a:r>
            <a:r>
              <a:rPr lang="en-US" altLang="ko-KR" sz="2200" dirty="0"/>
              <a:t>)</a:t>
            </a:r>
            <a:r>
              <a:rPr lang="ko-KR" altLang="en-US" sz="2200" dirty="0"/>
              <a:t>가 다른 객체</a:t>
            </a:r>
            <a:r>
              <a:rPr lang="en-US" altLang="ko-KR" sz="2200" dirty="0"/>
              <a:t>(</a:t>
            </a:r>
            <a:r>
              <a:rPr lang="ko-KR" altLang="en-US" sz="2200" dirty="0"/>
              <a:t>수신 객체</a:t>
            </a:r>
            <a:r>
              <a:rPr lang="en-US" altLang="ko-KR" sz="2200" dirty="0"/>
              <a:t>)</a:t>
            </a:r>
            <a:r>
              <a:rPr lang="ko-KR" altLang="en-US" sz="2200" dirty="0"/>
              <a:t>에게 작업을 요청하는 신호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6E8C4B-FCD6-3440-9C8C-10E5EFAAE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363" y="1690688"/>
            <a:ext cx="5722564" cy="247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455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클래스의 구성 요소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136CA5-78EE-B842-9A3C-F8897EDBA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6493420" y="1369690"/>
            <a:ext cx="4184194" cy="343028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F265C4B-1395-024E-A6AD-3DD678B5A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">
            <a:off x="1142191" y="1363136"/>
            <a:ext cx="3441903" cy="4444216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6D9F25B-C43C-6E40-97C6-AC9AB13C8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604239"/>
              </p:ext>
            </p:extLst>
          </p:nvPr>
        </p:nvGraphicFramePr>
        <p:xfrm>
          <a:off x="4513638" y="4806489"/>
          <a:ext cx="66656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420">
                  <a:extLst>
                    <a:ext uri="{9D8B030D-6E8A-4147-A177-3AD203B41FA5}">
                      <a16:colId xmlns:a16="http://schemas.microsoft.com/office/drawing/2014/main" val="3110191491"/>
                    </a:ext>
                  </a:extLst>
                </a:gridCol>
                <a:gridCol w="846929">
                  <a:extLst>
                    <a:ext uri="{9D8B030D-6E8A-4147-A177-3AD203B41FA5}">
                      <a16:colId xmlns:a16="http://schemas.microsoft.com/office/drawing/2014/main" val="2295333852"/>
                    </a:ext>
                  </a:extLst>
                </a:gridCol>
                <a:gridCol w="4509291">
                  <a:extLst>
                    <a:ext uri="{9D8B030D-6E8A-4147-A177-3AD203B41FA5}">
                      <a16:colId xmlns:a16="http://schemas.microsoft.com/office/drawing/2014/main" val="4236438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부호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접근 제어 범위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257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public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접근 제어가 없음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10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protected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#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같은 패키지 또는 다른 패키지의 자손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717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(default)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~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같은 패키지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318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private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같은 클래스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120095"/>
                  </a:ext>
                </a:extLst>
              </a:tr>
            </a:tbl>
          </a:graphicData>
        </a:graphic>
      </p:graphicFrame>
      <p:sp>
        <p:nvSpPr>
          <p:cNvPr id="7" name="오른쪽 화살표[R] 6">
            <a:extLst>
              <a:ext uri="{FF2B5EF4-FFF2-40B4-BE49-F238E27FC236}">
                <a16:creationId xmlns:a16="http://schemas.microsoft.com/office/drawing/2014/main" id="{E429E36A-1740-A147-8E5E-9E485431F4BF}"/>
              </a:ext>
            </a:extLst>
          </p:cNvPr>
          <p:cNvSpPr/>
          <p:nvPr/>
        </p:nvSpPr>
        <p:spPr>
          <a:xfrm>
            <a:off x="5131936" y="2804612"/>
            <a:ext cx="822547" cy="5604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4573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클래스 관계의 구분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CF6753-0480-9F4A-9FE0-DE7A1ABA0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84" y="1690688"/>
            <a:ext cx="10916231" cy="407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601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클래스와 객체의 관계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E329A-D954-0348-A782-9BCCBB53A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1.</a:t>
            </a:r>
            <a:r>
              <a:rPr lang="ko-KR" altLang="en-US" dirty="0"/>
              <a:t> 의존 관계</a:t>
            </a:r>
            <a:r>
              <a:rPr lang="en-US" altLang="ko-KR" dirty="0"/>
              <a:t>(dependency)</a:t>
            </a:r>
            <a:endParaRPr lang="ko-KR" altLang="en-US" dirty="0"/>
          </a:p>
          <a:p>
            <a:pPr>
              <a:lnSpc>
                <a:spcPts val="2980"/>
              </a:lnSpc>
            </a:pPr>
            <a:r>
              <a:rPr lang="ko-KR" altLang="en-US" sz="2400" dirty="0"/>
              <a:t>한 클래스가 다른 클래스를 잠깐 사용하는 관계</a:t>
            </a:r>
            <a:r>
              <a:rPr lang="en-US" altLang="ko-KR" sz="2400" dirty="0"/>
              <a:t>.</a:t>
            </a:r>
            <a:r>
              <a:rPr lang="ko-KR" altLang="en-US" sz="2400" dirty="0"/>
              <a:t> 사용이 끝나면 관계도 끝</a:t>
            </a:r>
            <a:endParaRPr lang="en-US" altLang="ko-KR" sz="2400" dirty="0"/>
          </a:p>
          <a:p>
            <a:pPr>
              <a:lnSpc>
                <a:spcPts val="2980"/>
              </a:lnSpc>
            </a:pPr>
            <a:r>
              <a:rPr lang="ko-KR" altLang="en-US" sz="2400" dirty="0"/>
              <a:t>의존은 한 클래스를 다른 클래스의 오퍼레이션의 매개변수로 사용하는 경우에 주로 나타난다</a:t>
            </a:r>
            <a:r>
              <a:rPr lang="en-US" altLang="ko-KR" sz="2400" dirty="0"/>
              <a:t>. 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022C77-6407-1749-BF95-71CFE9689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971" y="5287651"/>
            <a:ext cx="6220747" cy="12760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07CAC9-B4EA-0D88-DB42-4BFA15C34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520" y="3511433"/>
            <a:ext cx="5364601" cy="172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22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클래스와 객체의 관계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E329A-D954-0348-A782-9BCCBB53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79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2.</a:t>
            </a:r>
            <a:r>
              <a:rPr lang="ko-KR" altLang="en-US" dirty="0"/>
              <a:t> 연관 관계</a:t>
            </a:r>
            <a:r>
              <a:rPr lang="en-US" altLang="ko-KR" dirty="0"/>
              <a:t>(association)</a:t>
            </a:r>
            <a:endParaRPr lang="ko-KR" altLang="en-US" dirty="0"/>
          </a:p>
          <a:p>
            <a:pPr>
              <a:lnSpc>
                <a:spcPts val="2960"/>
              </a:lnSpc>
            </a:pPr>
            <a:r>
              <a:rPr lang="ko-KR" altLang="en-US" sz="2400" dirty="0"/>
              <a:t>두 클래스의 관계로 지속적 유지</a:t>
            </a:r>
            <a:r>
              <a:rPr lang="en-US" altLang="ko-KR" sz="2400" dirty="0"/>
              <a:t>.</a:t>
            </a:r>
            <a:r>
              <a:rPr lang="ko-KR" altLang="en-US" sz="2400" dirty="0"/>
              <a:t> 한 클래스가 다른 클래스를 계속 알고 있음</a:t>
            </a:r>
            <a:r>
              <a:rPr lang="en-US" altLang="ko-KR" sz="2400" dirty="0"/>
              <a:t>.</a:t>
            </a:r>
          </a:p>
          <a:p>
            <a:pPr>
              <a:lnSpc>
                <a:spcPts val="2960"/>
              </a:lnSpc>
            </a:pPr>
            <a:r>
              <a:rPr lang="ko-KR" altLang="en-US" sz="2400" dirty="0"/>
              <a:t>두 클래스가 연관 관계가 되면 한쪽 객체에서 다른 객체로 옮겨갈 수 있다</a:t>
            </a:r>
            <a:r>
              <a:rPr lang="en-US" altLang="ko-KR" sz="2400" dirty="0"/>
              <a:t>.</a:t>
            </a:r>
          </a:p>
          <a:p>
            <a:pPr>
              <a:lnSpc>
                <a:spcPts val="2960"/>
              </a:lnSpc>
            </a:pPr>
            <a:r>
              <a:rPr lang="ko-KR" altLang="en-US" sz="2400" dirty="0"/>
              <a:t>연관의 양쪽 끝이 같은 클래스를 향하는 순환도 가능</a:t>
            </a:r>
            <a:r>
              <a:rPr lang="en-US" altLang="ko-KR" sz="2400" dirty="0"/>
              <a:t>.(</a:t>
            </a:r>
            <a:r>
              <a:rPr lang="ko-KR" altLang="en-US" sz="2400" dirty="0"/>
              <a:t>양방향 관계</a:t>
            </a:r>
            <a:r>
              <a:rPr lang="en-US" altLang="ko-KR" sz="2400" dirty="0"/>
              <a:t>)</a:t>
            </a:r>
            <a:endParaRPr lang="ko-KR" altLang="en-US" sz="2400" dirty="0"/>
          </a:p>
          <a:p>
            <a:pPr marL="0" indent="0">
              <a:buNone/>
            </a:pP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C3AF3D-283A-5D4D-90C2-727064CCC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669" y="5112660"/>
            <a:ext cx="8137182" cy="11460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697CE6-2BC5-3DCA-6818-57F501A34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997" y="4030935"/>
            <a:ext cx="32766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49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클래스와 객체의 관계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E329A-D954-0348-A782-9BCCBB53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302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3.</a:t>
            </a:r>
            <a:r>
              <a:rPr lang="ko-KR" altLang="en-US" dirty="0"/>
              <a:t> 집합 관계</a:t>
            </a:r>
            <a:r>
              <a:rPr lang="en-US" altLang="ko-KR" dirty="0"/>
              <a:t>(aggregation)</a:t>
            </a:r>
            <a:r>
              <a:rPr lang="ko-KR" altLang="en-US" dirty="0"/>
              <a:t>와 복합 관계</a:t>
            </a:r>
            <a:r>
              <a:rPr lang="en-US" altLang="ko-KR" dirty="0"/>
              <a:t>(composite)</a:t>
            </a:r>
          </a:p>
          <a:p>
            <a:r>
              <a:rPr lang="ko-KR" altLang="en-US" sz="2400" dirty="0"/>
              <a:t>집합 관계 </a:t>
            </a:r>
            <a:r>
              <a:rPr lang="en-US" altLang="ko-KR" sz="2400" dirty="0"/>
              <a:t>-</a:t>
            </a:r>
            <a:r>
              <a:rPr lang="ko-KR" altLang="en-US" sz="2400" dirty="0"/>
              <a:t> 한 클래스가 더 작은 클래스들로 이루어지는 관계</a:t>
            </a:r>
            <a:r>
              <a:rPr lang="en-US" altLang="ko-KR" sz="2400" dirty="0"/>
              <a:t> </a:t>
            </a:r>
          </a:p>
          <a:p>
            <a:r>
              <a:rPr lang="ko-KR" altLang="en-US" sz="2400" dirty="0"/>
              <a:t>복합 관계 </a:t>
            </a:r>
            <a:r>
              <a:rPr lang="en-US" altLang="ko-KR" sz="2400" dirty="0"/>
              <a:t>-</a:t>
            </a:r>
            <a:r>
              <a:rPr lang="ko-KR" altLang="en-US" sz="2400" dirty="0"/>
              <a:t> 집합 관계 중에서 더 강한 관계로 구성되는 경우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FA2A0B-A412-A144-90AA-1924A3ED4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861" y="3293880"/>
            <a:ext cx="6157455" cy="341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299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클래스와 객체의 관계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E329A-D954-0348-A782-9BCCBB53A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4.</a:t>
            </a:r>
            <a:r>
              <a:rPr lang="ko-KR" altLang="en-US" dirty="0"/>
              <a:t> 일반화 관계와 특수화 관계</a:t>
            </a:r>
          </a:p>
          <a:p>
            <a:r>
              <a:rPr lang="ko-KR" altLang="en-US" sz="2400" dirty="0"/>
              <a:t>일반화된 사물과 좀더 특수화된 사물 사이의 관계</a:t>
            </a:r>
            <a:r>
              <a:rPr lang="en-US" altLang="ko-KR" sz="2400" dirty="0"/>
              <a:t>. </a:t>
            </a:r>
            <a:r>
              <a:rPr lang="ko-KR" altLang="en-US" sz="2400" dirty="0"/>
              <a:t>상속 관계</a:t>
            </a:r>
          </a:p>
          <a:p>
            <a:r>
              <a:rPr lang="ko-KR" altLang="en-US" sz="2400" dirty="0"/>
              <a:t>한 종류를 의미하며 </a:t>
            </a:r>
            <a:r>
              <a:rPr lang="en" altLang="ko-KR" sz="2400" dirty="0"/>
              <a:t>kind</a:t>
            </a:r>
            <a:r>
              <a:rPr lang="en-US" altLang="ko-KR" sz="2400" dirty="0"/>
              <a:t>-</a:t>
            </a:r>
            <a:r>
              <a:rPr lang="en" altLang="ko-KR" sz="2400" dirty="0"/>
              <a:t>of</a:t>
            </a:r>
            <a:r>
              <a:rPr lang="ko-KR" altLang="en-US" sz="2400" dirty="0"/>
              <a:t>관계 또는 </a:t>
            </a:r>
            <a:r>
              <a:rPr lang="en" altLang="ko-KR" sz="2400" dirty="0"/>
              <a:t>is-a</a:t>
            </a:r>
            <a:r>
              <a:rPr lang="ko-KR" altLang="en-US" sz="2400" dirty="0"/>
              <a:t> </a:t>
            </a:r>
            <a:r>
              <a:rPr lang="ko-KR" altLang="en-US" sz="2400" dirty="0" err="1"/>
              <a:t>관계라고도</a:t>
            </a:r>
            <a:r>
              <a:rPr lang="ko-KR" altLang="en-US" sz="2400" dirty="0"/>
              <a:t> 한다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2B494C1-7A71-5548-A9CD-1DCE2299C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981" y="3765318"/>
            <a:ext cx="7122038" cy="250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004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디자인 패턴 목록</a:t>
            </a:r>
            <a:r>
              <a:rPr kumimoji="1" lang="en-US" altLang="ko-KR" dirty="0"/>
              <a:t>(1/3)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E329A-D954-0348-A782-9BCCBB53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20919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kumimoji="1" lang="en-US" altLang="ko-KR" dirty="0"/>
              <a:t>Singleton – </a:t>
            </a:r>
            <a:r>
              <a:rPr kumimoji="1" lang="ko-KR" altLang="en-US" dirty="0"/>
              <a:t>인스턴스를 단 하나만 생성</a:t>
            </a:r>
            <a:r>
              <a:rPr kumimoji="1" lang="en-US" altLang="ko-KR" dirty="0"/>
              <a:t>(5)</a:t>
            </a:r>
            <a:r>
              <a:rPr kumimoji="1" lang="ko-KR" altLang="en-US" dirty="0"/>
              <a:t> </a:t>
            </a:r>
            <a:r>
              <a:rPr kumimoji="1" lang="en-US" altLang="ko-KR" dirty="0"/>
              <a:t>p.102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kumimoji="1" lang="en-US" altLang="ko-KR" dirty="0"/>
              <a:t>Flyweight – </a:t>
            </a:r>
            <a:r>
              <a:rPr kumimoji="1" lang="ko-KR" altLang="en-US" dirty="0"/>
              <a:t>같은 것을 공유해서 절약</a:t>
            </a:r>
            <a:r>
              <a:rPr kumimoji="1" lang="en-US" altLang="ko-KR" dirty="0"/>
              <a:t>(20) p.364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kumimoji="1" lang="en-US" altLang="ko-KR" dirty="0"/>
              <a:t>Prototype – </a:t>
            </a:r>
            <a:r>
              <a:rPr kumimoji="1" lang="ko-KR" altLang="en-US" dirty="0"/>
              <a:t>복사해서 인스턴스를 생성</a:t>
            </a:r>
            <a:r>
              <a:rPr kumimoji="1" lang="en-US" altLang="ko-KR" dirty="0"/>
              <a:t>(6) p.112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kumimoji="1" lang="en-US" altLang="ko-KR" dirty="0"/>
              <a:t>Template Method – </a:t>
            </a:r>
            <a:r>
              <a:rPr kumimoji="1" lang="ko-KR" altLang="en-US" dirty="0"/>
              <a:t>하위 클래스에서 구체적으로 처리</a:t>
            </a:r>
            <a:r>
              <a:rPr kumimoji="1" lang="en-US" altLang="ko-KR" dirty="0"/>
              <a:t>(3) p.74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kumimoji="1" lang="en-US" altLang="ko-KR" dirty="0"/>
              <a:t>Strategy – </a:t>
            </a:r>
            <a:r>
              <a:rPr kumimoji="1" lang="ko-KR" altLang="en-US" dirty="0"/>
              <a:t>알고리즘을 모두 바꿈</a:t>
            </a:r>
            <a:r>
              <a:rPr kumimoji="1" lang="en-US" altLang="ko-KR" dirty="0"/>
              <a:t>(10) p.186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kumimoji="1" lang="en-US" altLang="ko-KR" dirty="0"/>
              <a:t>Bridge – </a:t>
            </a:r>
            <a:r>
              <a:rPr kumimoji="1" lang="ko-KR" altLang="en-US" dirty="0"/>
              <a:t>기능 계층과 구현 계층을 나눔</a:t>
            </a:r>
            <a:r>
              <a:rPr kumimoji="1" lang="en-US" altLang="ko-KR" dirty="0"/>
              <a:t>(9) p.172</a:t>
            </a:r>
          </a:p>
          <a:p>
            <a:pPr marL="0" indent="0">
              <a:buNone/>
            </a:pPr>
            <a:r>
              <a:rPr kumimoji="1" lang="en-US" altLang="ko-KR" dirty="0"/>
              <a:t>7.  Composite – </a:t>
            </a:r>
            <a:r>
              <a:rPr kumimoji="1" lang="ko-KR" altLang="en-US" dirty="0"/>
              <a:t>그릇과 내용물을 동일시</a:t>
            </a:r>
            <a:r>
              <a:rPr kumimoji="1" lang="en-US" altLang="ko-KR" dirty="0"/>
              <a:t>(11) p.204</a:t>
            </a:r>
          </a:p>
          <a:p>
            <a:pPr marL="0" indent="0">
              <a:buNone/>
            </a:pPr>
            <a:r>
              <a:rPr kumimoji="1" lang="en-US" altLang="ko-KR" dirty="0"/>
              <a:t>8.</a:t>
            </a:r>
            <a:r>
              <a:rPr kumimoji="1" lang="ko-KR" altLang="en-US" dirty="0"/>
              <a:t> </a:t>
            </a:r>
            <a:r>
              <a:rPr kumimoji="1" lang="en-US" altLang="ko-KR" dirty="0"/>
              <a:t> Decorator – </a:t>
            </a:r>
            <a:r>
              <a:rPr kumimoji="1" lang="ko-KR" altLang="en-US" dirty="0"/>
              <a:t>장식물과 내용물을 동일시</a:t>
            </a:r>
            <a:r>
              <a:rPr kumimoji="1" lang="en-US" altLang="ko-KR" dirty="0"/>
              <a:t>(12) p.218</a:t>
            </a:r>
          </a:p>
          <a:p>
            <a:pPr marL="0" indent="0">
              <a:buNone/>
            </a:pPr>
            <a:r>
              <a:rPr kumimoji="1" lang="en-US" altLang="ko-KR" dirty="0"/>
              <a:t>9.  Command – </a:t>
            </a:r>
            <a:r>
              <a:rPr kumimoji="1" lang="ko-KR" altLang="en-US" dirty="0"/>
              <a:t>명령을 클래스로 표현</a:t>
            </a:r>
            <a:r>
              <a:rPr kumimoji="1" lang="en-US" altLang="ko-KR" dirty="0"/>
              <a:t>(22) p.394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kumimoji="1" lang="en-US" altLang="ko-KR" dirty="0"/>
          </a:p>
          <a:p>
            <a:pPr marL="514350" indent="-514350">
              <a:buAutoNum type="arabicPeriod"/>
            </a:pPr>
            <a:endParaRPr kumimoji="1" lang="en-US" altLang="ko-KR" dirty="0"/>
          </a:p>
          <a:p>
            <a:pPr marL="514350" indent="-514350">
              <a:buAutoNum type="arabicPeriod"/>
            </a:pPr>
            <a:endParaRPr kumimoji="1" lang="en-US" altLang="ko-KR" dirty="0"/>
          </a:p>
          <a:p>
            <a:pPr marL="514350" indent="-514350">
              <a:buAutoNum type="arabicPeriod"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696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디자인 패턴 목록</a:t>
            </a:r>
            <a:r>
              <a:rPr kumimoji="1" lang="en-US" altLang="ko-KR" dirty="0"/>
              <a:t>(2/3)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E329A-D954-0348-A782-9BCCBB53A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dirty="0"/>
              <a:t>10. State – </a:t>
            </a:r>
            <a:r>
              <a:rPr kumimoji="1" lang="ko-KR" altLang="en-US" dirty="0"/>
              <a:t>상태를 클래스로 표현</a:t>
            </a:r>
            <a:r>
              <a:rPr kumimoji="1" lang="en-US" altLang="ko-KR" dirty="0"/>
              <a:t>(19) p.340</a:t>
            </a:r>
          </a:p>
          <a:p>
            <a:pPr marL="0" indent="0">
              <a:buNone/>
            </a:pPr>
            <a:r>
              <a:rPr kumimoji="1" lang="en-US" altLang="ko-KR" dirty="0"/>
              <a:t>11. Proxy – </a:t>
            </a:r>
            <a:r>
              <a:rPr kumimoji="1" lang="ko-KR" altLang="en-US" dirty="0"/>
              <a:t>필요할 때 만들기</a:t>
            </a:r>
            <a:r>
              <a:rPr kumimoji="1" lang="en-US" altLang="ko-KR" dirty="0"/>
              <a:t>(21) p.380</a:t>
            </a:r>
          </a:p>
          <a:p>
            <a:pPr marL="0" indent="0">
              <a:buNone/>
            </a:pPr>
            <a:r>
              <a:rPr kumimoji="1" lang="en-US" altLang="ko-KR" dirty="0"/>
              <a:t>12.</a:t>
            </a:r>
            <a:r>
              <a:rPr kumimoji="1" lang="ko-KR" altLang="en-US" dirty="0"/>
              <a:t> </a:t>
            </a:r>
            <a:r>
              <a:rPr kumimoji="1" lang="en-US" altLang="ko-KR" dirty="0"/>
              <a:t>Observer – </a:t>
            </a:r>
            <a:r>
              <a:rPr kumimoji="1" lang="ko-KR" altLang="en-US" dirty="0"/>
              <a:t>상태 변화를 통보</a:t>
            </a:r>
            <a:r>
              <a:rPr kumimoji="1" lang="en-US" altLang="ko-KR" dirty="0"/>
              <a:t>(17) p.308</a:t>
            </a:r>
          </a:p>
          <a:p>
            <a:pPr marL="0" indent="0">
              <a:buNone/>
            </a:pPr>
            <a:r>
              <a:rPr kumimoji="1" lang="en-US" altLang="ko-KR" dirty="0"/>
              <a:t>13.</a:t>
            </a:r>
            <a:r>
              <a:rPr kumimoji="1" lang="ko-KR" altLang="en-US" dirty="0"/>
              <a:t> </a:t>
            </a:r>
            <a:r>
              <a:rPr kumimoji="1" lang="en-US" altLang="ko-KR" dirty="0"/>
              <a:t>Memento –</a:t>
            </a:r>
            <a:r>
              <a:rPr kumimoji="1" lang="ko-KR" altLang="en-US" dirty="0"/>
              <a:t> 상태를 저장</a:t>
            </a:r>
            <a:r>
              <a:rPr kumimoji="1" lang="en-US" altLang="ko-KR" dirty="0"/>
              <a:t>(18) p.322</a:t>
            </a:r>
          </a:p>
          <a:p>
            <a:pPr marL="0" indent="0">
              <a:buNone/>
            </a:pPr>
            <a:r>
              <a:rPr kumimoji="1" lang="en-US" altLang="ko-KR" dirty="0"/>
              <a:t>14. Factory Method - </a:t>
            </a:r>
            <a:r>
              <a:rPr kumimoji="1" lang="ko-KR" altLang="en-US" dirty="0"/>
              <a:t>하위 클래스에서 인스턴스를 생성</a:t>
            </a:r>
            <a:r>
              <a:rPr kumimoji="1" lang="en-US" altLang="ko-KR" dirty="0"/>
              <a:t>(4) p.88</a:t>
            </a:r>
          </a:p>
          <a:p>
            <a:pPr marL="0" indent="0">
              <a:buNone/>
            </a:pPr>
            <a:r>
              <a:rPr kumimoji="1" lang="en-US" altLang="ko-KR" dirty="0"/>
              <a:t>15. Abstract Factory – </a:t>
            </a:r>
            <a:r>
              <a:rPr kumimoji="1" lang="ko-KR" altLang="en-US" dirty="0"/>
              <a:t>부품을 조립해서 제품을 만듦</a:t>
            </a:r>
            <a:r>
              <a:rPr kumimoji="1" lang="en-US" altLang="ko-KR" dirty="0"/>
              <a:t>(8) p.144</a:t>
            </a:r>
          </a:p>
          <a:p>
            <a:pPr marL="0" indent="0">
              <a:buNone/>
            </a:pPr>
            <a:r>
              <a:rPr kumimoji="1" lang="en-US" altLang="ko-KR" dirty="0"/>
              <a:t>16. Builder – </a:t>
            </a:r>
            <a:r>
              <a:rPr kumimoji="1" lang="ko-KR" altLang="en-US" dirty="0"/>
              <a:t>복잡한 인스턴스를 조립</a:t>
            </a:r>
            <a:r>
              <a:rPr kumimoji="1" lang="en-US" altLang="ko-KR" dirty="0"/>
              <a:t>(7) p.128</a:t>
            </a:r>
          </a:p>
          <a:p>
            <a:pPr marL="0" indent="0">
              <a:buNone/>
            </a:pPr>
            <a:r>
              <a:rPr kumimoji="1" lang="en-US" altLang="ko-KR" dirty="0"/>
              <a:t>17.</a:t>
            </a:r>
            <a:r>
              <a:rPr kumimoji="1" lang="ko-KR" altLang="en-US" dirty="0"/>
              <a:t> </a:t>
            </a:r>
            <a:r>
              <a:rPr kumimoji="1" lang="en-US" altLang="ko-KR" dirty="0"/>
              <a:t>Adapter – </a:t>
            </a:r>
            <a:r>
              <a:rPr kumimoji="1" lang="ko-KR" altLang="en-US" dirty="0"/>
              <a:t>사이에 끼워 재사용</a:t>
            </a:r>
            <a:r>
              <a:rPr kumimoji="1" lang="en-US" altLang="ko-KR" dirty="0"/>
              <a:t>(2) p.58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514350" indent="-514350">
              <a:buAutoNum type="arabicPeriod"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5816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디자인 패턴 목록</a:t>
            </a:r>
            <a:r>
              <a:rPr kumimoji="1" lang="en-US" altLang="ko-KR" dirty="0"/>
              <a:t>(3/3)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E329A-D954-0348-A782-9BCCBB53A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dirty="0"/>
              <a:t>18. Iterator – </a:t>
            </a:r>
            <a:r>
              <a:rPr kumimoji="1" lang="ko-KR" altLang="en-US" dirty="0"/>
              <a:t>처리를 반복</a:t>
            </a:r>
            <a:r>
              <a:rPr kumimoji="1" lang="en-US" altLang="ko-KR" dirty="0"/>
              <a:t>(1) p.42</a:t>
            </a:r>
          </a:p>
          <a:p>
            <a:pPr marL="0" indent="0">
              <a:buNone/>
            </a:pPr>
            <a:r>
              <a:rPr kumimoji="1" lang="en-US" altLang="ko-KR" dirty="0"/>
              <a:t>19.</a:t>
            </a:r>
            <a:r>
              <a:rPr kumimoji="1" lang="ko-KR" altLang="en-US" dirty="0"/>
              <a:t> </a:t>
            </a:r>
            <a:r>
              <a:rPr kumimoji="1" lang="en-US" altLang="ko-KR" dirty="0"/>
              <a:t>Visitor – </a:t>
            </a:r>
            <a:r>
              <a:rPr kumimoji="1" lang="ko-KR" altLang="en-US" dirty="0"/>
              <a:t>데이터 구조를 돌아다니면서 처리</a:t>
            </a:r>
            <a:r>
              <a:rPr kumimoji="1" lang="en-US" altLang="ko-KR" dirty="0"/>
              <a:t>(13) p.240</a:t>
            </a:r>
          </a:p>
          <a:p>
            <a:pPr marL="0" indent="0">
              <a:buNone/>
            </a:pPr>
            <a:r>
              <a:rPr kumimoji="1" lang="en-US" altLang="ko-KR" dirty="0"/>
              <a:t>20.</a:t>
            </a:r>
            <a:r>
              <a:rPr kumimoji="1" lang="ko-KR" altLang="en-US" dirty="0"/>
              <a:t> </a:t>
            </a:r>
            <a:r>
              <a:rPr kumimoji="1" lang="en-US" altLang="ko-KR" dirty="0"/>
              <a:t>Interpreter – </a:t>
            </a:r>
            <a:r>
              <a:rPr kumimoji="1" lang="ko-KR" altLang="en-US" dirty="0"/>
              <a:t>문법 규칙을 클래스로 표현</a:t>
            </a:r>
            <a:r>
              <a:rPr kumimoji="1" lang="en-US" altLang="ko-KR" dirty="0"/>
              <a:t>(23) p.414</a:t>
            </a:r>
          </a:p>
          <a:p>
            <a:pPr marL="0" indent="0">
              <a:buNone/>
            </a:pPr>
            <a:r>
              <a:rPr kumimoji="1" lang="en-US" altLang="ko-KR" dirty="0"/>
              <a:t>21.</a:t>
            </a:r>
            <a:r>
              <a:rPr kumimoji="1" lang="ko-KR" altLang="en-US" dirty="0"/>
              <a:t> </a:t>
            </a:r>
            <a:r>
              <a:rPr kumimoji="1" lang="en-US" altLang="ko-KR" dirty="0"/>
              <a:t>Chain of Responsibility – </a:t>
            </a:r>
            <a:r>
              <a:rPr kumimoji="1" lang="ko-KR" altLang="en-US" dirty="0"/>
              <a:t>책임을 떠넘기기</a:t>
            </a:r>
            <a:r>
              <a:rPr kumimoji="1" lang="en-US" altLang="ko-KR" dirty="0"/>
              <a:t>(14) p.260</a:t>
            </a:r>
          </a:p>
          <a:p>
            <a:pPr marL="0" indent="0">
              <a:buNone/>
            </a:pPr>
            <a:r>
              <a:rPr kumimoji="1" lang="en-US" altLang="ko-KR" dirty="0"/>
              <a:t>22.</a:t>
            </a:r>
            <a:r>
              <a:rPr kumimoji="1" lang="ko-KR" altLang="en-US" dirty="0"/>
              <a:t> </a:t>
            </a:r>
            <a:r>
              <a:rPr kumimoji="1" lang="en-US" altLang="ko-KR" dirty="0"/>
              <a:t>Facade – </a:t>
            </a:r>
            <a:r>
              <a:rPr kumimoji="1" lang="ko-KR" altLang="en-US" dirty="0"/>
              <a:t>단순한 창구 만들기</a:t>
            </a:r>
            <a:r>
              <a:rPr kumimoji="1" lang="en-US" altLang="ko-KR" dirty="0"/>
              <a:t>(15) p.274</a:t>
            </a:r>
          </a:p>
          <a:p>
            <a:pPr marL="0" indent="0">
              <a:buNone/>
            </a:pPr>
            <a:r>
              <a:rPr kumimoji="1" lang="en-US" altLang="ko-KR" dirty="0"/>
              <a:t>23.</a:t>
            </a:r>
            <a:r>
              <a:rPr kumimoji="1" lang="ko-KR" altLang="en-US" dirty="0"/>
              <a:t> </a:t>
            </a:r>
            <a:r>
              <a:rPr kumimoji="1" lang="en-US" altLang="ko-KR" dirty="0"/>
              <a:t>Mediator – </a:t>
            </a:r>
            <a:r>
              <a:rPr kumimoji="1" lang="ko-KR" altLang="en-US" dirty="0"/>
              <a:t>중재자를 통해 처리</a:t>
            </a:r>
            <a:r>
              <a:rPr kumimoji="1" lang="en-US" altLang="ko-KR" dirty="0"/>
              <a:t>(16) p.288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514350" indent="-514350">
              <a:buAutoNum type="arabicPeriod"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2729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1E130E-F26D-4548-A7BA-1B82B76A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객체지향개념 </a:t>
            </a:r>
            <a:r>
              <a:rPr kumimoji="1" lang="en-US" altLang="ko-KR" dirty="0"/>
              <a:t>5</a:t>
            </a:r>
            <a:r>
              <a:rPr kumimoji="1" lang="ko-KR" altLang="en-US" dirty="0"/>
              <a:t>가지 원칙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SOLID 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0FC770-7C89-3F44-B957-10E446E40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SRP – </a:t>
            </a:r>
            <a:r>
              <a:rPr kumimoji="1" lang="ko-KR" altLang="en-US" dirty="0"/>
              <a:t>단일 책임의 원칙</a:t>
            </a:r>
            <a:r>
              <a:rPr kumimoji="1" lang="en-US" altLang="ko-KR" dirty="0"/>
              <a:t>.</a:t>
            </a:r>
            <a:r>
              <a:rPr kumimoji="1" lang="ko-KR" altLang="en-US" dirty="0"/>
              <a:t> 하나의 메서드는 하나의 기능만</a:t>
            </a:r>
            <a:endParaRPr kumimoji="1" lang="en-US" altLang="ko-KR" dirty="0"/>
          </a:p>
          <a:p>
            <a:r>
              <a:rPr kumimoji="1" lang="en-US" altLang="ko-KR" dirty="0"/>
              <a:t>OCP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개방 폐쇄 원칙</a:t>
            </a:r>
            <a:r>
              <a:rPr kumimoji="1" lang="en-US" altLang="ko-KR" dirty="0"/>
              <a:t>(</a:t>
            </a:r>
            <a:r>
              <a:rPr kumimoji="1" lang="ko-KR" altLang="en-US" dirty="0"/>
              <a:t>상속 </a:t>
            </a:r>
            <a:r>
              <a:rPr kumimoji="1" lang="en-US" altLang="ko-KR" dirty="0"/>
              <a:t>Open, </a:t>
            </a:r>
            <a:r>
              <a:rPr kumimoji="1" lang="ko-KR" altLang="en-US" dirty="0"/>
              <a:t>변경 </a:t>
            </a:r>
            <a:r>
              <a:rPr kumimoji="1" lang="en-US" altLang="ko-KR" dirty="0"/>
              <a:t>Close).</a:t>
            </a:r>
            <a:r>
              <a:rPr kumimoji="1" lang="ko-KR" altLang="en-US" dirty="0"/>
              <a:t> 변경</a:t>
            </a:r>
            <a:r>
              <a:rPr kumimoji="1" lang="en-US" altLang="ko-KR" dirty="0"/>
              <a:t>x </a:t>
            </a:r>
            <a:r>
              <a:rPr kumimoji="1" lang="ko-KR" altLang="en-US" dirty="0"/>
              <a:t>상속</a:t>
            </a:r>
            <a:r>
              <a:rPr kumimoji="1" lang="en-US" altLang="ko-KR" dirty="0"/>
              <a:t>o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en-US" altLang="ko-KR" dirty="0"/>
              <a:t>LSP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리스코프</a:t>
            </a:r>
            <a:r>
              <a:rPr kumimoji="1" lang="ko-KR" altLang="en-US" dirty="0"/>
              <a:t> 치환 원칙</a:t>
            </a:r>
            <a:r>
              <a:rPr kumimoji="1" lang="en-US" altLang="ko-KR" dirty="0"/>
              <a:t>.</a:t>
            </a:r>
            <a:r>
              <a:rPr kumimoji="1" lang="ko-KR" altLang="en-US" dirty="0"/>
              <a:t> 조상을 자손으로 대체 가능해야</a:t>
            </a:r>
            <a:endParaRPr kumimoji="1" lang="en-US" altLang="ko-KR" dirty="0"/>
          </a:p>
          <a:p>
            <a:r>
              <a:rPr kumimoji="1" lang="en-US" altLang="ko-KR" dirty="0"/>
              <a:t>ISP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인터페이스 분리 원칙</a:t>
            </a:r>
            <a:r>
              <a:rPr kumimoji="1" lang="en-US" altLang="ko-KR" dirty="0"/>
              <a:t>.</a:t>
            </a:r>
            <a:r>
              <a:rPr kumimoji="1" lang="ko-KR" altLang="en-US" dirty="0"/>
              <a:t> 다른 목적의 인터페이스는 분리</a:t>
            </a:r>
            <a:endParaRPr kumimoji="1" lang="en-US" altLang="ko-KR" dirty="0"/>
          </a:p>
          <a:p>
            <a:r>
              <a:rPr kumimoji="1" lang="en-US" altLang="ko-KR" dirty="0"/>
              <a:t>DIP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의존성 역전 원칙</a:t>
            </a:r>
            <a:r>
              <a:rPr kumimoji="1" lang="en-US" altLang="ko-KR" dirty="0"/>
              <a:t>.</a:t>
            </a:r>
            <a:r>
              <a:rPr kumimoji="1" lang="ko-KR" altLang="en-US" dirty="0"/>
              <a:t> 구체화 의존</a:t>
            </a:r>
            <a:r>
              <a:rPr kumimoji="1" lang="en-US" altLang="ko-KR" dirty="0"/>
              <a:t>x, </a:t>
            </a:r>
            <a:r>
              <a:rPr kumimoji="1" lang="ko-KR" altLang="en-US" dirty="0"/>
              <a:t>추상화 의존</a:t>
            </a:r>
            <a:r>
              <a:rPr kumimoji="1" lang="en-US" altLang="ko-KR" dirty="0"/>
              <a:t>o</a:t>
            </a:r>
          </a:p>
          <a:p>
            <a:pPr marL="0" indent="0">
              <a:buNone/>
            </a:pPr>
            <a:r>
              <a:rPr kumimoji="1" lang="en-US" altLang="ko-KR" dirty="0"/>
              <a:t>          </a:t>
            </a:r>
            <a:r>
              <a:rPr kumimoji="1" lang="ko-KR" altLang="en-US" dirty="0"/>
              <a:t>클래스가 아닌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인터페이스에 의존하라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8015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62" y="0"/>
            <a:ext cx="12466834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-1.</a:t>
            </a:r>
            <a:r>
              <a:rPr kumimoji="1" lang="ko-KR" altLang="en-US" sz="4000" dirty="0"/>
              <a:t> 디자인 패턴 공부의 시작</a:t>
            </a:r>
            <a:endParaRPr kumimoji="1" lang="en-US" altLang="ko-KR" sz="40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7AA4540-D2BF-7AB9-077A-9C1D4CB45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180" y="135265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kumimoji="1" lang="ko-KR" altLang="en-US" b="1" dirty="0"/>
              <a:t>생성자의 단점</a:t>
            </a:r>
            <a:endParaRPr kumimoji="1" lang="en-US" altLang="ko-KR" b="1" dirty="0"/>
          </a:p>
          <a:p>
            <a:pPr marL="0" indent="0">
              <a:buNone/>
            </a:pPr>
            <a:r>
              <a:rPr kumimoji="1" lang="en-US" altLang="ko-KR" dirty="0"/>
              <a:t>1.</a:t>
            </a:r>
            <a:r>
              <a:rPr kumimoji="1" lang="ko-KR" altLang="en-US" dirty="0"/>
              <a:t> 항상 새로운 객체를 생성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factory </a:t>
            </a:r>
            <a:r>
              <a:rPr kumimoji="1" lang="ko-KR" altLang="en-US" dirty="0"/>
              <a:t>메서드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Flyweight</a:t>
            </a:r>
            <a:r>
              <a:rPr kumimoji="1" lang="ko-KR" altLang="en-US" dirty="0"/>
              <a:t>패턴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2.</a:t>
            </a:r>
            <a:r>
              <a:rPr kumimoji="1" lang="ko-KR" altLang="en-US" dirty="0"/>
              <a:t> 매개변수가 많아지면 구분 어려움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Builder</a:t>
            </a:r>
            <a:r>
              <a:rPr kumimoji="1" lang="ko-KR" altLang="en-US" dirty="0"/>
              <a:t>패턴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696FF4-2CF8-A21A-5044-33AEB0178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475" y="2996322"/>
            <a:ext cx="7245132" cy="362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53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EB5366-0438-01DF-FA18-78AD513C5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993" y="3691759"/>
            <a:ext cx="5689600" cy="243840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62" y="0"/>
            <a:ext cx="12466834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0.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Factory method – </a:t>
            </a:r>
            <a:r>
              <a:rPr kumimoji="1" lang="ko-KR" altLang="en-US" sz="4000" dirty="0"/>
              <a:t>객체를 반환하는 메서드</a:t>
            </a:r>
            <a:endParaRPr kumimoji="1" lang="en-US" altLang="ko-KR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EEB020-79EE-8129-54DC-E9350861C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24" y="1165990"/>
            <a:ext cx="8387475" cy="2468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B964CE-499A-E25C-62BC-6154A64F1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48" y="3778470"/>
            <a:ext cx="5511800" cy="228600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83A346BF-10B8-EE48-06D4-F5DF3FF369ED}"/>
              </a:ext>
            </a:extLst>
          </p:cNvPr>
          <p:cNvSpPr/>
          <p:nvPr/>
        </p:nvSpPr>
        <p:spPr>
          <a:xfrm>
            <a:off x="5507421" y="4698124"/>
            <a:ext cx="893379" cy="3993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60835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62" y="0"/>
            <a:ext cx="12466834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1.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Singleton – </a:t>
            </a:r>
            <a:r>
              <a:rPr kumimoji="1" lang="ko-KR" altLang="en-US" sz="4000" dirty="0"/>
              <a:t>인스턴스를 단 하나만 생성</a:t>
            </a:r>
            <a:r>
              <a:rPr kumimoji="1" lang="en-US" altLang="ko-KR" sz="4000" dirty="0"/>
              <a:t>(5) p.102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27EF861-38E6-EB41-B8CA-CF22A2B89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174" y="2530167"/>
            <a:ext cx="3318528" cy="227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08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9F7D06C-E57E-4627-5E48-E6C8A6C1B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2046"/>
            <a:ext cx="8233042" cy="30928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BF9AB97-A79F-DFAC-C39E-4578DD333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539169"/>
            <a:ext cx="5333370" cy="31970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97E032C0-EA16-4DC5-352B-92F48F8FD9F7}"/>
              </a:ext>
            </a:extLst>
          </p:cNvPr>
          <p:cNvSpPr txBox="1">
            <a:spLocks/>
          </p:cNvSpPr>
          <p:nvPr/>
        </p:nvSpPr>
        <p:spPr>
          <a:xfrm>
            <a:off x="375862" y="0"/>
            <a:ext cx="124668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4000"/>
              <a:t>1.</a:t>
            </a:r>
            <a:r>
              <a:rPr kumimoji="1" lang="ko-KR" altLang="en-US" sz="4000"/>
              <a:t> </a:t>
            </a:r>
            <a:r>
              <a:rPr kumimoji="1" lang="en-US" altLang="ko-KR" sz="4000"/>
              <a:t>Singleton – </a:t>
            </a:r>
            <a:r>
              <a:rPr kumimoji="1" lang="ko-KR" altLang="en-US" sz="4000"/>
              <a:t>인스턴스를 단 하나만 생성</a:t>
            </a:r>
            <a:r>
              <a:rPr kumimoji="1" lang="en-US" altLang="ko-KR" sz="4000"/>
              <a:t>(5) p.102</a:t>
            </a:r>
            <a:endParaRPr kumimoji="1" lang="en-US" altLang="ko-KR" sz="4000" dirty="0"/>
          </a:p>
        </p:txBody>
      </p:sp>
    </p:spTree>
    <p:extLst>
      <p:ext uri="{BB962C8B-B14F-4D97-AF65-F5344CB8AC3E}">
        <p14:creationId xmlns:p14="http://schemas.microsoft.com/office/powerpoint/2010/main" val="1029252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4858</TotalTime>
  <Words>918</Words>
  <Application>Microsoft Macintosh PowerPoint</Application>
  <PresentationFormat>Widescreen</PresentationFormat>
  <Paragraphs>124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Calibri</vt:lpstr>
      <vt:lpstr>Office 테마</vt:lpstr>
      <vt:lpstr>디자인 패턴</vt:lpstr>
      <vt:lpstr>UML Unified Modeling Language</vt:lpstr>
      <vt:lpstr>UML이란?</vt:lpstr>
      <vt:lpstr>UML의 다이어그램</vt:lpstr>
      <vt:lpstr>객체 지향 모델링</vt:lpstr>
      <vt:lpstr>객체, 클래스, 메시지</vt:lpstr>
      <vt:lpstr>클래스의 구성 요소</vt:lpstr>
      <vt:lpstr>클래스 관계의 구분</vt:lpstr>
      <vt:lpstr>클래스와 객체의 관계 표현</vt:lpstr>
      <vt:lpstr>클래스와 객체의 관계 표현</vt:lpstr>
      <vt:lpstr>클래스와 객체의 관계 표현</vt:lpstr>
      <vt:lpstr>클래스와 객체의 관계 표현</vt:lpstr>
      <vt:lpstr>디자인 패턴 목록(1/3)</vt:lpstr>
      <vt:lpstr>디자인 패턴 목록(2/3)</vt:lpstr>
      <vt:lpstr>디자인 패턴 목록(3/3)</vt:lpstr>
      <vt:lpstr>객체지향개념 5가지 원칙 - SOLID </vt:lpstr>
      <vt:lpstr>-1. 디자인 패턴 공부의 시작</vt:lpstr>
      <vt:lpstr>0. Factory method – 객체를 반환하는 메서드</vt:lpstr>
      <vt:lpstr>1. Singleton – 인스턴스를 단 하나만 생성(5) p.102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 패턴</dc:title>
  <dc:creator>Namkung Seong</dc:creator>
  <cp:lastModifiedBy>seong Namkung</cp:lastModifiedBy>
  <cp:revision>113</cp:revision>
  <cp:lastPrinted>2023-10-21T05:56:55Z</cp:lastPrinted>
  <dcterms:created xsi:type="dcterms:W3CDTF">2023-10-12T23:55:57Z</dcterms:created>
  <dcterms:modified xsi:type="dcterms:W3CDTF">2026-03-17T22:35:18Z</dcterms:modified>
</cp:coreProperties>
</file>