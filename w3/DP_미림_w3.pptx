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36" r:id="rId3"/>
    <p:sldId id="344" r:id="rId4"/>
    <p:sldId id="345" r:id="rId5"/>
    <p:sldId id="343" r:id="rId6"/>
    <p:sldId id="337" r:id="rId7"/>
    <p:sldId id="328" r:id="rId8"/>
    <p:sldId id="335" r:id="rId9"/>
    <p:sldId id="338" r:id="rId10"/>
    <p:sldId id="339" r:id="rId11"/>
    <p:sldId id="34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0"/>
    <p:restoredTop sz="95470"/>
  </p:normalViewPr>
  <p:slideViewPr>
    <p:cSldViewPr snapToGrid="0" snapToObjects="1" showGuides="1">
      <p:cViewPr>
        <p:scale>
          <a:sx n="97" d="100"/>
          <a:sy n="97" d="100"/>
        </p:scale>
        <p:origin x="2472" y="1464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FFF51-F109-2848-AC0D-9264BFE35FDB}" type="datetimeFigureOut">
              <a:rPr lang="en-KR" smtClean="0"/>
              <a:t>3/26/26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EDA04-7260-244A-80BB-50D27482D05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861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32727-655A-B74C-9A55-ED04947C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41B21-716F-1D47-8A41-1F0AF8F61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1BB7D-A82F-5042-B676-46976B4D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A621D-91FB-4F4B-A114-4967C7A2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1715C-175F-904E-9BEF-ACE1987D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709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602CF-E8FB-1748-9ABA-C571A134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6D34B-1B89-9F49-9465-B520A99D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03336-59BD-9243-8762-E9741339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5497A4-0223-6548-9769-247D9247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3F4D3-2162-D843-8033-579E679D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084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10376-1ADD-0E4C-9C61-1F53E0B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36B7F-6F36-5645-AE58-FA9834C8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614DAF-6C86-5B4B-8414-4D6AEFFA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3B4EA-D85E-644A-BC9A-1DBB938E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5C1B9-023F-4C45-A7F8-09EB53D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07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574A-288B-924C-AABA-C996DFBB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0CFF5-BF78-6945-9B7F-2E701090B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3DF80E-6DB8-AD43-8701-11A7FE13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2666A-483D-3A4A-9543-F5FD097E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C0E1C-C44F-F247-8A2D-A82DD2B9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E012A1-E0F9-7E4D-86F1-296910C7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567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4DD90-2DE4-1C46-A6BB-4A0F41DA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3CA2FE-17F3-B744-86F6-620842FA0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7C65F-49E7-8F42-804B-E010C2027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C897F4-4D2C-A949-A69D-41278287A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41928F-A9F6-9E40-9679-F1131C4B1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07F1F-FF26-E741-9562-D4D24CB1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600B8B-9257-7D48-89B6-49427F61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094A1F-75E8-E748-BCF6-38798D0D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602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C95BA-2949-BC4D-B0EB-34778036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729DE4-E58C-ED4C-8405-54DF208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3CE434-8784-E143-B930-B6F22B38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14333-16F9-5247-959D-8949468C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41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93CCC0-F9FF-D144-A0DA-474FB0DE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1B1FC7-CF59-DA4D-8499-F3ADEB0B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85E51-A286-504F-B7A7-6E892B7F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881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6B274-6716-004F-BF34-A120E059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F7261-4E5D-A749-8295-E5B4A3F7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004F6-9905-6540-8C3F-43C98F730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2CA32-4C6A-834B-AA0E-404490AA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EAC2C-7DF2-1447-8383-BF5CB654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9EDEC1-EF87-6F48-917C-782EB835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919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F1B53-F77F-9842-AE2F-3FA174B0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47A3B3-7F65-944E-9F51-8FB628953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16C84B-3904-334C-AE47-229E8860F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785059-91B2-A64D-A42B-0CA2DD0F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B02B2-A5FC-7142-85B4-B002B4A8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1548DE-DC2D-054C-B286-42471588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755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F9DB4-4534-8744-955E-BD090F07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3E913D-1E7D-8246-A5AE-8E057F1B6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97EC5-415E-F446-BC03-3A11A24B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80F1A-78B7-D848-A3F5-AE564EF7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E987C8-C0CD-3641-86EE-A8519CA3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925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854F4B-AF42-5345-BD4E-95BD779B2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F6F511-3D03-D14A-982D-62B99F881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61A91-79E3-EF4E-B04F-E5F6A198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1824B-8857-5D40-9490-3CF97588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6E7FE-A937-DD47-BD4B-C7CB8EB4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890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C57672-275C-B74E-9525-2667394F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1238F-41A0-4D4B-80EE-A491CC26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D7F15-D335-8842-8E2F-0ADCFA63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4549D-0856-8846-8190-ECE7C25F8748}" type="datetimeFigureOut">
              <a:rPr kumimoji="1" lang="ko-KR" altLang="en-US" smtClean="0"/>
              <a:t>2026. 3. 26.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BA34E-0017-9642-BD37-D29FE505E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F10FA-F03C-F142-ACD3-E9B811BF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435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6D61E4E1-038F-F3C0-81C1-CF167D3EF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275" y="639478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sz="9600" dirty="0"/>
              <a:t>디자인 패턴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011378AF-1152-CB41-69E9-7B9153CE8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822" y="3417103"/>
            <a:ext cx="9144000" cy="30864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2026. 3. 31</a:t>
            </a:r>
            <a:r>
              <a:rPr kumimoji="1" lang="ko-KR" altLang="en-US" dirty="0"/>
              <a:t> </a:t>
            </a:r>
            <a:r>
              <a:rPr kumimoji="1" lang="en-US" altLang="ko-KR" dirty="0"/>
              <a:t>w3</a:t>
            </a:r>
          </a:p>
          <a:p>
            <a:r>
              <a:rPr kumimoji="1" lang="ko-KR" altLang="en-US" dirty="0"/>
              <a:t>미림 </a:t>
            </a:r>
            <a:r>
              <a:rPr kumimoji="1" lang="ko-KR" altLang="en-US" dirty="0" err="1"/>
              <a:t>마이스터고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남궁성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 err="1"/>
              <a:t>seong.namkung@gmail.com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322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5433998" y="1979272"/>
            <a:ext cx="5075814" cy="97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1.</a:t>
            </a:r>
            <a:r>
              <a:rPr kumimoji="1" lang="ko-KR" altLang="en-US" sz="4000" dirty="0"/>
              <a:t> 관심사</a:t>
            </a:r>
            <a:r>
              <a:rPr kumimoji="1" lang="en-US" altLang="ko-KR" sz="4000" dirty="0"/>
              <a:t>(SRP)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BD268B7-2B08-022E-A3B0-FA3334D938D0}"/>
              </a:ext>
            </a:extLst>
          </p:cNvPr>
          <p:cNvSpPr txBox="1">
            <a:spLocks/>
          </p:cNvSpPr>
          <p:nvPr/>
        </p:nvSpPr>
        <p:spPr>
          <a:xfrm>
            <a:off x="5447501" y="2756705"/>
            <a:ext cx="9379667" cy="97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2.</a:t>
            </a:r>
            <a:r>
              <a:rPr kumimoji="1" lang="ko-KR" altLang="en-US" sz="4000" dirty="0"/>
              <a:t> 가변과 불변 </a:t>
            </a:r>
            <a:r>
              <a:rPr kumimoji="1" lang="en-US" altLang="ko-KR" sz="4000" dirty="0"/>
              <a:t>(OCP)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46F892B3-299A-06B1-4B31-55200715468E}"/>
              </a:ext>
            </a:extLst>
          </p:cNvPr>
          <p:cNvSpPr txBox="1">
            <a:spLocks/>
          </p:cNvSpPr>
          <p:nvPr/>
        </p:nvSpPr>
        <p:spPr>
          <a:xfrm>
            <a:off x="5449430" y="3499414"/>
            <a:ext cx="9379667" cy="97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3.</a:t>
            </a:r>
            <a:r>
              <a:rPr kumimoji="1" lang="ko-KR" altLang="en-US" sz="4000" dirty="0"/>
              <a:t> 중복코드</a:t>
            </a:r>
            <a:endParaRPr kumimoji="1" lang="en-US" altLang="ko-KR" sz="4000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4EC71D4-CA86-8FAF-43F0-6AE2A06B39F4}"/>
              </a:ext>
            </a:extLst>
          </p:cNvPr>
          <p:cNvSpPr txBox="1">
            <a:spLocks/>
          </p:cNvSpPr>
          <p:nvPr/>
        </p:nvSpPr>
        <p:spPr>
          <a:xfrm>
            <a:off x="2001241" y="2025372"/>
            <a:ext cx="2920994" cy="2522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10700" b="1" dirty="0"/>
              <a:t>분리</a:t>
            </a:r>
            <a:endParaRPr kumimoji="1" lang="en-US" altLang="ko-KR" sz="10700" b="1" dirty="0"/>
          </a:p>
        </p:txBody>
      </p:sp>
    </p:spTree>
    <p:extLst>
      <p:ext uri="{BB962C8B-B14F-4D97-AF65-F5344CB8AC3E}">
        <p14:creationId xmlns:p14="http://schemas.microsoft.com/office/powerpoint/2010/main" val="113702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4000" dirty="0"/>
              <a:t>변하는 것의 분리</a:t>
            </a:r>
            <a:r>
              <a:rPr kumimoji="1" lang="en-US" altLang="ko-KR" sz="4000" dirty="0"/>
              <a:t>#1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–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Template 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9E599-EEE2-5CF5-6CA9-AB38E1027FCE}"/>
              </a:ext>
            </a:extLst>
          </p:cNvPr>
          <p:cNvSpPr/>
          <p:nvPr/>
        </p:nvSpPr>
        <p:spPr>
          <a:xfrm>
            <a:off x="1877786" y="1787978"/>
            <a:ext cx="2432957" cy="37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17972-8920-F443-8813-E3036126A1A5}"/>
              </a:ext>
            </a:extLst>
          </p:cNvPr>
          <p:cNvSpPr/>
          <p:nvPr/>
        </p:nvSpPr>
        <p:spPr>
          <a:xfrm>
            <a:off x="6422571" y="1768929"/>
            <a:ext cx="2432957" cy="2541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불변</a:t>
            </a:r>
            <a:endParaRPr lang="en-US" altLang="ko-K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FB4556-91F5-AD5D-E6FB-0884D86FD29E}"/>
              </a:ext>
            </a:extLst>
          </p:cNvPr>
          <p:cNvSpPr/>
          <p:nvPr/>
        </p:nvSpPr>
        <p:spPr>
          <a:xfrm>
            <a:off x="6419850" y="4637315"/>
            <a:ext cx="2432957" cy="9198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가변</a:t>
            </a:r>
            <a:endParaRPr lang="en-KR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0F614939-A20D-517F-9AAD-CA67E4F69D93}"/>
              </a:ext>
            </a:extLst>
          </p:cNvPr>
          <p:cNvSpPr/>
          <p:nvPr/>
        </p:nvSpPr>
        <p:spPr>
          <a:xfrm>
            <a:off x="5070691" y="3389473"/>
            <a:ext cx="7537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845677-A66D-D52B-5DF1-7C7726FD7CAB}"/>
              </a:ext>
            </a:extLst>
          </p:cNvPr>
          <p:cNvCxnSpPr>
            <a:cxnSpLocks/>
            <a:stCxn id="16" idx="0"/>
            <a:endCxn id="12" idx="2"/>
          </p:cNvCxnSpPr>
          <p:nvPr/>
        </p:nvCxnSpPr>
        <p:spPr>
          <a:xfrm flipV="1">
            <a:off x="7636329" y="4310743"/>
            <a:ext cx="2721" cy="32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72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4000" dirty="0"/>
              <a:t>변하는 것의 분리</a:t>
            </a:r>
            <a:r>
              <a:rPr kumimoji="1" lang="en-US" altLang="ko-KR" sz="4000" dirty="0"/>
              <a:t>#2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–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Strategy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9E599-EEE2-5CF5-6CA9-AB38E1027FCE}"/>
              </a:ext>
            </a:extLst>
          </p:cNvPr>
          <p:cNvSpPr/>
          <p:nvPr/>
        </p:nvSpPr>
        <p:spPr>
          <a:xfrm>
            <a:off x="1477093" y="1798252"/>
            <a:ext cx="2432957" cy="37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17972-8920-F443-8813-E3036126A1A5}"/>
              </a:ext>
            </a:extLst>
          </p:cNvPr>
          <p:cNvSpPr/>
          <p:nvPr/>
        </p:nvSpPr>
        <p:spPr>
          <a:xfrm>
            <a:off x="1596835" y="3873266"/>
            <a:ext cx="2207079" cy="14695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불변</a:t>
            </a:r>
            <a:endParaRPr lang="en-US" altLang="ko-KR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FB4556-91F5-AD5D-E6FB-0884D86FD29E}"/>
              </a:ext>
            </a:extLst>
          </p:cNvPr>
          <p:cNvSpPr/>
          <p:nvPr/>
        </p:nvSpPr>
        <p:spPr>
          <a:xfrm>
            <a:off x="1768407" y="2076849"/>
            <a:ext cx="1848096" cy="12006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가변</a:t>
            </a:r>
            <a:endParaRPr lang="en-KR" b="1" dirty="0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0F614939-A20D-517F-9AAD-CA67E4F69D93}"/>
              </a:ext>
            </a:extLst>
          </p:cNvPr>
          <p:cNvSpPr/>
          <p:nvPr/>
        </p:nvSpPr>
        <p:spPr>
          <a:xfrm>
            <a:off x="3812748" y="2542497"/>
            <a:ext cx="13346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8814B390-39CA-7CAC-5EF5-5528301645BF}"/>
              </a:ext>
            </a:extLst>
          </p:cNvPr>
          <p:cNvSpPr/>
          <p:nvPr/>
        </p:nvSpPr>
        <p:spPr>
          <a:xfrm>
            <a:off x="1615886" y="1945706"/>
            <a:ext cx="2155865" cy="1469075"/>
          </a:xfrm>
          <a:prstGeom prst="frame">
            <a:avLst>
              <a:gd name="adj1" fmla="val 41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60B69-DA29-FEE0-7AB6-45830320E179}"/>
              </a:ext>
            </a:extLst>
          </p:cNvPr>
          <p:cNvSpPr/>
          <p:nvPr/>
        </p:nvSpPr>
        <p:spPr>
          <a:xfrm>
            <a:off x="8392420" y="1842550"/>
            <a:ext cx="2432957" cy="37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AAE13-8EFF-6EA3-D02C-3E80CAA02143}"/>
              </a:ext>
            </a:extLst>
          </p:cNvPr>
          <p:cNvSpPr/>
          <p:nvPr/>
        </p:nvSpPr>
        <p:spPr>
          <a:xfrm>
            <a:off x="8512162" y="3917564"/>
            <a:ext cx="2207079" cy="14695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불변</a:t>
            </a:r>
            <a:endParaRPr lang="en-US" altLang="ko-K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9B1C66-2014-2FA1-0D70-68FF9684EAC8}"/>
              </a:ext>
            </a:extLst>
          </p:cNvPr>
          <p:cNvSpPr/>
          <p:nvPr/>
        </p:nvSpPr>
        <p:spPr>
          <a:xfrm>
            <a:off x="8683734" y="2121147"/>
            <a:ext cx="1848096" cy="1200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가변</a:t>
            </a:r>
            <a:endParaRPr lang="en-K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FD3B8-FDD6-3CC0-7523-2E8DBA661520}"/>
              </a:ext>
            </a:extLst>
          </p:cNvPr>
          <p:cNvSpPr/>
          <p:nvPr/>
        </p:nvSpPr>
        <p:spPr>
          <a:xfrm>
            <a:off x="5208537" y="2095683"/>
            <a:ext cx="1848096" cy="12006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가변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18E7E-B210-90E1-21C5-D5CA66752783}"/>
              </a:ext>
            </a:extLst>
          </p:cNvPr>
          <p:cNvSpPr txBox="1"/>
          <p:nvPr/>
        </p:nvSpPr>
        <p:spPr>
          <a:xfrm>
            <a:off x="4019576" y="2067338"/>
            <a:ext cx="116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분리</a:t>
            </a:r>
            <a:endParaRPr lang="en-KR" b="1" dirty="0"/>
          </a:p>
        </p:txBody>
      </p:sp>
      <p:sp>
        <p:nvSpPr>
          <p:cNvPr id="15" name="Curved Left Arrow 14">
            <a:extLst>
              <a:ext uri="{FF2B5EF4-FFF2-40B4-BE49-F238E27FC236}">
                <a16:creationId xmlns:a16="http://schemas.microsoft.com/office/drawing/2014/main" id="{BADE5A88-91CF-2155-B810-89938903ED31}"/>
              </a:ext>
            </a:extLst>
          </p:cNvPr>
          <p:cNvSpPr/>
          <p:nvPr/>
        </p:nvSpPr>
        <p:spPr>
          <a:xfrm rot="15982609">
            <a:off x="7729874" y="1065062"/>
            <a:ext cx="657546" cy="2655130"/>
          </a:xfrm>
          <a:prstGeom prst="curvedLef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6C2BD4-3956-4F7F-000D-382D2564C8FC}"/>
              </a:ext>
            </a:extLst>
          </p:cNvPr>
          <p:cNvSpPr txBox="1"/>
          <p:nvPr/>
        </p:nvSpPr>
        <p:spPr>
          <a:xfrm>
            <a:off x="7271496" y="1527892"/>
            <a:ext cx="1355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주입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342881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2297E47-5C9A-51C7-2105-65B6A2D8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908" y="2764122"/>
            <a:ext cx="4624730" cy="360195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7.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Bridge – </a:t>
            </a:r>
            <a:r>
              <a:rPr kumimoji="1" lang="ko-KR" altLang="en-US" sz="4000" dirty="0"/>
              <a:t>상속 </a:t>
            </a:r>
            <a:r>
              <a:rPr kumimoji="1" lang="en-US" altLang="ko-KR" sz="4000" dirty="0"/>
              <a:t>&amp;</a:t>
            </a:r>
            <a:r>
              <a:rPr kumimoji="1" lang="ko-KR" altLang="en-US" sz="4000" dirty="0"/>
              <a:t> 주입을 동시에</a:t>
            </a:r>
            <a:endParaRPr kumimoji="1" lang="en-US" altLang="ko-KR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43F6A-C174-3109-A094-C6145C087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62" y="1134757"/>
            <a:ext cx="3130043" cy="129873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C1001D-44FC-3826-39F1-4B3D9A683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23" y="1273996"/>
            <a:ext cx="3879575" cy="5238464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3D62E767-E227-D4CE-2C27-E265D2C586BD}"/>
              </a:ext>
            </a:extLst>
          </p:cNvPr>
          <p:cNvSpPr/>
          <p:nvPr/>
        </p:nvSpPr>
        <p:spPr>
          <a:xfrm>
            <a:off x="1032163" y="1551710"/>
            <a:ext cx="3491345" cy="1163782"/>
          </a:xfrm>
          <a:prstGeom prst="frame">
            <a:avLst>
              <a:gd name="adj1" fmla="val 41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D886B2-A830-F9FF-F00F-585DC7F8061F}"/>
              </a:ext>
            </a:extLst>
          </p:cNvPr>
          <p:cNvSpPr txBox="1"/>
          <p:nvPr/>
        </p:nvSpPr>
        <p:spPr>
          <a:xfrm>
            <a:off x="5013616" y="3208858"/>
            <a:ext cx="18715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주입</a:t>
            </a:r>
            <a:endParaRPr lang="en-US" altLang="ko-KR" sz="4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en-US" altLang="ko-KR" sz="44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포함</a:t>
            </a:r>
            <a:r>
              <a:rPr lang="en-US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endParaRPr lang="ko-KR" altLang="en-US" sz="4400" b="1" dirty="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1BC7AAB-5117-1FF3-61FD-301F3E4A1D01}"/>
              </a:ext>
            </a:extLst>
          </p:cNvPr>
          <p:cNvSpPr/>
          <p:nvPr/>
        </p:nvSpPr>
        <p:spPr>
          <a:xfrm>
            <a:off x="7204365" y="3068237"/>
            <a:ext cx="4197926" cy="1011927"/>
          </a:xfrm>
          <a:prstGeom prst="frame">
            <a:avLst>
              <a:gd name="adj1" fmla="val 45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5F6FACB-6EC5-C392-2836-41A5E1573A56}"/>
              </a:ext>
            </a:extLst>
          </p:cNvPr>
          <p:cNvSpPr/>
          <p:nvPr/>
        </p:nvSpPr>
        <p:spPr>
          <a:xfrm>
            <a:off x="6548427" y="3348652"/>
            <a:ext cx="7537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95F3B571-4577-E11D-D457-8C072CE7B7EB}"/>
              </a:ext>
            </a:extLst>
          </p:cNvPr>
          <p:cNvSpPr/>
          <p:nvPr/>
        </p:nvSpPr>
        <p:spPr>
          <a:xfrm>
            <a:off x="9497291" y="2770909"/>
            <a:ext cx="1648691" cy="408709"/>
          </a:xfrm>
          <a:prstGeom prst="frame">
            <a:avLst>
              <a:gd name="adj1" fmla="val 813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436E087-7C2E-D99B-06C2-CC9CCD5918BA}"/>
              </a:ext>
            </a:extLst>
          </p:cNvPr>
          <p:cNvSpPr/>
          <p:nvPr/>
        </p:nvSpPr>
        <p:spPr>
          <a:xfrm rot="5400000">
            <a:off x="10124088" y="2442369"/>
            <a:ext cx="460382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45A62-BCD1-466C-3523-277CEBB9F72A}"/>
              </a:ext>
            </a:extLst>
          </p:cNvPr>
          <p:cNvSpPr txBox="1"/>
          <p:nvPr/>
        </p:nvSpPr>
        <p:spPr>
          <a:xfrm>
            <a:off x="9742355" y="1659826"/>
            <a:ext cx="187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상속</a:t>
            </a:r>
            <a:endParaRPr lang="en-US" altLang="ko-KR" sz="4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CEF64E7-E215-E05E-E3E4-D812FF234A4E}"/>
              </a:ext>
            </a:extLst>
          </p:cNvPr>
          <p:cNvSpPr/>
          <p:nvPr/>
        </p:nvSpPr>
        <p:spPr>
          <a:xfrm rot="13087699">
            <a:off x="3951966" y="2632608"/>
            <a:ext cx="1511199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71650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885BD5-5CB6-7B7B-253F-784A2FA80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37" y="1631790"/>
            <a:ext cx="5473700" cy="43815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5.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Template Method – </a:t>
            </a:r>
            <a:r>
              <a:rPr kumimoji="1" lang="ko-KR" altLang="en-US" sz="3600" dirty="0"/>
              <a:t>템플릿</a:t>
            </a:r>
            <a:r>
              <a:rPr kumimoji="1" lang="en-US" altLang="ko-KR" sz="3600" dirty="0"/>
              <a:t>(</a:t>
            </a:r>
            <a:r>
              <a:rPr kumimoji="1" lang="ko-KR" altLang="en-US" sz="3600" dirty="0"/>
              <a:t>공통</a:t>
            </a:r>
            <a:r>
              <a:rPr kumimoji="1" lang="en-US" altLang="ko-KR" sz="3600" dirty="0"/>
              <a:t>)</a:t>
            </a:r>
            <a:r>
              <a:rPr kumimoji="1" lang="ko-KR" altLang="en-US" sz="3600" dirty="0"/>
              <a:t>을 상속받아 완성</a:t>
            </a:r>
            <a:endParaRPr kumimoji="1" lang="en-US" altLang="ko-KR" sz="4000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A4EA5629-13A7-284C-40D5-AA43144C5CCA}"/>
              </a:ext>
            </a:extLst>
          </p:cNvPr>
          <p:cNvSpPr/>
          <p:nvPr/>
        </p:nvSpPr>
        <p:spPr>
          <a:xfrm>
            <a:off x="5810491" y="3507129"/>
            <a:ext cx="844952" cy="4282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F7F36-4A23-BEDB-0F97-1BECC105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81" y="1501815"/>
            <a:ext cx="5537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1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5.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Template Method – </a:t>
            </a:r>
            <a:r>
              <a:rPr kumimoji="1" lang="ko-KR" altLang="en-US" sz="3600" dirty="0"/>
              <a:t>템플릿</a:t>
            </a:r>
            <a:r>
              <a:rPr kumimoji="1" lang="en-US" altLang="ko-KR" sz="3600" dirty="0"/>
              <a:t>(</a:t>
            </a:r>
            <a:r>
              <a:rPr kumimoji="1" lang="ko-KR" altLang="en-US" sz="3600" dirty="0"/>
              <a:t>공통</a:t>
            </a:r>
            <a:r>
              <a:rPr kumimoji="1" lang="en-US" altLang="ko-KR" sz="3600" dirty="0"/>
              <a:t>)</a:t>
            </a:r>
            <a:r>
              <a:rPr kumimoji="1" lang="ko-KR" altLang="en-US" sz="3600" dirty="0"/>
              <a:t>을 상속받아 완성</a:t>
            </a:r>
            <a:endParaRPr kumimoji="1" lang="en-US" altLang="ko-KR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D3C8E-5F8E-0864-C779-8312605D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38" y="1085565"/>
            <a:ext cx="6972300" cy="554990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213BF1-8F53-DC7F-8D21-A6B824556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578" y="1456561"/>
            <a:ext cx="4203700" cy="49403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A4EA5629-13A7-284C-40D5-AA43144C5CCA}"/>
              </a:ext>
            </a:extLst>
          </p:cNvPr>
          <p:cNvSpPr/>
          <p:nvPr/>
        </p:nvSpPr>
        <p:spPr>
          <a:xfrm>
            <a:off x="7060557" y="3460830"/>
            <a:ext cx="844952" cy="4282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545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6.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Strategy – </a:t>
            </a:r>
            <a:r>
              <a:rPr kumimoji="1" lang="ko-KR" altLang="en-US" sz="4000" dirty="0"/>
              <a:t>주입 받아서 완성  </a:t>
            </a:r>
            <a:endParaRPr kumimoji="1" lang="en-US" altLang="ko-KR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F0D0F1-3B12-9D42-C12C-213148AD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59" y="1252076"/>
            <a:ext cx="7734300" cy="250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27A98D-5A67-9CA4-CFB9-485D3616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546" y="3352318"/>
            <a:ext cx="6616700" cy="25146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Curved Left Arrow 8">
            <a:extLst>
              <a:ext uri="{FF2B5EF4-FFF2-40B4-BE49-F238E27FC236}">
                <a16:creationId xmlns:a16="http://schemas.microsoft.com/office/drawing/2014/main" id="{E97B5662-0305-D19B-669F-4469B9886B6D}"/>
              </a:ext>
            </a:extLst>
          </p:cNvPr>
          <p:cNvSpPr/>
          <p:nvPr/>
        </p:nvSpPr>
        <p:spPr>
          <a:xfrm>
            <a:off x="8067555" y="2708476"/>
            <a:ext cx="1921398" cy="2442258"/>
          </a:xfrm>
          <a:prstGeom prst="curvedLeftArrow">
            <a:avLst>
              <a:gd name="adj1" fmla="val 10309"/>
              <a:gd name="adj2" fmla="val 25711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ECBD5-A12F-D5DF-6E6A-83848845C54B}"/>
              </a:ext>
            </a:extLst>
          </p:cNvPr>
          <p:cNvSpPr txBox="1"/>
          <p:nvPr/>
        </p:nvSpPr>
        <p:spPr>
          <a:xfrm>
            <a:off x="10035251" y="3576577"/>
            <a:ext cx="1145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주입</a:t>
            </a:r>
            <a:endParaRPr lang="en-KR" sz="3600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5BF4E7D-ED73-BD4F-4805-5E4D6E49559A}"/>
              </a:ext>
            </a:extLst>
          </p:cNvPr>
          <p:cNvSpPr/>
          <p:nvPr/>
        </p:nvSpPr>
        <p:spPr>
          <a:xfrm rot="14981466">
            <a:off x="6687731" y="4288768"/>
            <a:ext cx="759457" cy="341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181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6.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Strategy – </a:t>
            </a:r>
            <a:r>
              <a:rPr kumimoji="1" lang="ko-KR" altLang="en-US" sz="4000" dirty="0"/>
              <a:t>주입 받아서 완성  </a:t>
            </a:r>
            <a:endParaRPr kumimoji="1" lang="en-US" altLang="ko-KR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B905A-48D5-358B-437C-9140080F5786}"/>
              </a:ext>
            </a:extLst>
          </p:cNvPr>
          <p:cNvSpPr txBox="1"/>
          <p:nvPr/>
        </p:nvSpPr>
        <p:spPr>
          <a:xfrm>
            <a:off x="729343" y="1173335"/>
            <a:ext cx="11166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/>
              <a:t>TreeSet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–</a:t>
            </a:r>
            <a:r>
              <a:rPr lang="ko-KR" altLang="en-US" sz="2800" b="1" dirty="0"/>
              <a:t> 새로운 요소를 저장하는 과정</a:t>
            </a:r>
            <a:endParaRPr lang="en-KR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23CBA-F828-19C3-6219-FEB61CC95221}"/>
              </a:ext>
            </a:extLst>
          </p:cNvPr>
          <p:cNvSpPr txBox="1"/>
          <p:nvPr/>
        </p:nvSpPr>
        <p:spPr>
          <a:xfrm>
            <a:off x="738211" y="1741857"/>
            <a:ext cx="11061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7,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4,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9,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1,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5</a:t>
            </a:r>
            <a:r>
              <a:rPr lang="ko-KR" altLang="en-US" sz="2400" b="1" dirty="0"/>
              <a:t>의 순서로 데이터를 저장 </a:t>
            </a:r>
            <a:r>
              <a:rPr lang="en-US" altLang="ko-KR" sz="2400" b="1" dirty="0"/>
              <a:t>–</a:t>
            </a:r>
            <a:r>
              <a:rPr lang="ko-KR" altLang="en-US" sz="2400" b="1" dirty="0"/>
              <a:t> 반복적인 비교로 저장할 위치를 찾음</a:t>
            </a:r>
            <a:endParaRPr lang="en-US" altLang="ko-KR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18316-A4F3-7B06-CA98-CC4EDEA1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28" y="2388814"/>
            <a:ext cx="6604540" cy="412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4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7.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Bridge – </a:t>
            </a:r>
            <a:r>
              <a:rPr kumimoji="1" lang="ko-KR" altLang="en-US" sz="4000" dirty="0"/>
              <a:t>상속 </a:t>
            </a:r>
            <a:r>
              <a:rPr kumimoji="1" lang="en-US" altLang="ko-KR" sz="4000" dirty="0"/>
              <a:t>&amp;</a:t>
            </a:r>
            <a:r>
              <a:rPr kumimoji="1" lang="ko-KR" altLang="en-US" sz="4000" dirty="0"/>
              <a:t> 주입을 동시에</a:t>
            </a:r>
            <a:endParaRPr kumimoji="1" lang="en-US" altLang="ko-KR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F46DA-5916-6C97-D756-9A7209F9D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28" y="1779226"/>
            <a:ext cx="6108700" cy="37846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717AE3FF-5874-4F18-87C9-524C080F1A35}"/>
              </a:ext>
            </a:extLst>
          </p:cNvPr>
          <p:cNvSpPr/>
          <p:nvPr/>
        </p:nvSpPr>
        <p:spPr>
          <a:xfrm rot="19308767">
            <a:off x="2758497" y="4867034"/>
            <a:ext cx="7537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1704C-3124-E161-7B93-DEC826959F27}"/>
              </a:ext>
            </a:extLst>
          </p:cNvPr>
          <p:cNvSpPr txBox="1"/>
          <p:nvPr/>
        </p:nvSpPr>
        <p:spPr>
          <a:xfrm>
            <a:off x="2007487" y="5390831"/>
            <a:ext cx="1444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상속</a:t>
            </a:r>
            <a:endParaRPr lang="ko-KR" altLang="en-US" sz="6600" b="1" dirty="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83889879-44CF-2896-12A5-60C08B524B71}"/>
              </a:ext>
            </a:extLst>
          </p:cNvPr>
          <p:cNvSpPr/>
          <p:nvPr/>
        </p:nvSpPr>
        <p:spPr>
          <a:xfrm rot="10800000">
            <a:off x="9616671" y="1798453"/>
            <a:ext cx="7537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9CBF9-5DD6-BDAC-CD42-BCED5E5DC1F9}"/>
              </a:ext>
            </a:extLst>
          </p:cNvPr>
          <p:cNvSpPr txBox="1"/>
          <p:nvPr/>
        </p:nvSpPr>
        <p:spPr>
          <a:xfrm>
            <a:off x="10411844" y="1640080"/>
            <a:ext cx="24940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주입</a:t>
            </a:r>
            <a:endParaRPr lang="en-US" altLang="ko-KR" sz="4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sz="44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포함</a:t>
            </a:r>
            <a:r>
              <a:rPr lang="en-US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endParaRPr lang="ko-KR" altLang="en-US" sz="4400" b="1" dirty="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0C984EBD-A0AD-4DF8-B7B4-19CADDAF175A}"/>
              </a:ext>
            </a:extLst>
          </p:cNvPr>
          <p:cNvSpPr/>
          <p:nvPr/>
        </p:nvSpPr>
        <p:spPr>
          <a:xfrm>
            <a:off x="3610302" y="1741117"/>
            <a:ext cx="6030311" cy="2154477"/>
          </a:xfrm>
          <a:prstGeom prst="frame">
            <a:avLst>
              <a:gd name="adj1" fmla="val 294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0FBDB766-759F-351C-0C27-4F929824320F}"/>
              </a:ext>
            </a:extLst>
          </p:cNvPr>
          <p:cNvSpPr/>
          <p:nvPr/>
        </p:nvSpPr>
        <p:spPr>
          <a:xfrm>
            <a:off x="3499549" y="1633458"/>
            <a:ext cx="2932781" cy="3732758"/>
          </a:xfrm>
          <a:prstGeom prst="frame">
            <a:avLst>
              <a:gd name="adj1" fmla="val 2105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12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2297E47-5C9A-51C7-2105-65B6A2D8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908" y="2764122"/>
            <a:ext cx="4624730" cy="360195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7.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Bridge – </a:t>
            </a:r>
            <a:r>
              <a:rPr kumimoji="1" lang="ko-KR" altLang="en-US" sz="4000" dirty="0"/>
              <a:t>상속 </a:t>
            </a:r>
            <a:r>
              <a:rPr kumimoji="1" lang="en-US" altLang="ko-KR" sz="4000" dirty="0"/>
              <a:t>&amp;</a:t>
            </a:r>
            <a:r>
              <a:rPr kumimoji="1" lang="ko-KR" altLang="en-US" sz="4000" dirty="0"/>
              <a:t> 주입을 동시에</a:t>
            </a:r>
            <a:endParaRPr kumimoji="1" lang="en-US" altLang="ko-KR" sz="4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43F6A-C174-3109-A094-C6145C087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62" y="1134757"/>
            <a:ext cx="3130043" cy="129873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C1001D-44FC-3826-39F1-4B3D9A683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23" y="1273996"/>
            <a:ext cx="3879575" cy="5238464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3D62E767-E227-D4CE-2C27-E265D2C586BD}"/>
              </a:ext>
            </a:extLst>
          </p:cNvPr>
          <p:cNvSpPr/>
          <p:nvPr/>
        </p:nvSpPr>
        <p:spPr>
          <a:xfrm>
            <a:off x="1032163" y="1551710"/>
            <a:ext cx="3491345" cy="1163782"/>
          </a:xfrm>
          <a:prstGeom prst="frame">
            <a:avLst>
              <a:gd name="adj1" fmla="val 41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D886B2-A830-F9FF-F00F-585DC7F8061F}"/>
              </a:ext>
            </a:extLst>
          </p:cNvPr>
          <p:cNvSpPr txBox="1"/>
          <p:nvPr/>
        </p:nvSpPr>
        <p:spPr>
          <a:xfrm>
            <a:off x="5013616" y="3208858"/>
            <a:ext cx="18715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주입</a:t>
            </a:r>
            <a:endParaRPr lang="en-US" altLang="ko-KR" sz="4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lang="en-US" altLang="ko-KR" sz="4400" b="1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포함</a:t>
            </a:r>
            <a:r>
              <a:rPr lang="en-US" altLang="ko-KR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endParaRPr lang="ko-KR" altLang="en-US" sz="4400" b="1" dirty="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1BC7AAB-5117-1FF3-61FD-301F3E4A1D01}"/>
              </a:ext>
            </a:extLst>
          </p:cNvPr>
          <p:cNvSpPr/>
          <p:nvPr/>
        </p:nvSpPr>
        <p:spPr>
          <a:xfrm>
            <a:off x="7204365" y="3068237"/>
            <a:ext cx="4197926" cy="1011927"/>
          </a:xfrm>
          <a:prstGeom prst="frame">
            <a:avLst>
              <a:gd name="adj1" fmla="val 45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5F6FACB-6EC5-C392-2836-41A5E1573A56}"/>
              </a:ext>
            </a:extLst>
          </p:cNvPr>
          <p:cNvSpPr/>
          <p:nvPr/>
        </p:nvSpPr>
        <p:spPr>
          <a:xfrm>
            <a:off x="6548427" y="3348652"/>
            <a:ext cx="753704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95F3B571-4577-E11D-D457-8C072CE7B7EB}"/>
              </a:ext>
            </a:extLst>
          </p:cNvPr>
          <p:cNvSpPr/>
          <p:nvPr/>
        </p:nvSpPr>
        <p:spPr>
          <a:xfrm>
            <a:off x="9497291" y="2770909"/>
            <a:ext cx="1648691" cy="408709"/>
          </a:xfrm>
          <a:prstGeom prst="frame">
            <a:avLst>
              <a:gd name="adj1" fmla="val 813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>
              <a:solidFill>
                <a:schemeClr val="tx1"/>
              </a:solidFill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436E087-7C2E-D99B-06C2-CC9CCD5918BA}"/>
              </a:ext>
            </a:extLst>
          </p:cNvPr>
          <p:cNvSpPr/>
          <p:nvPr/>
        </p:nvSpPr>
        <p:spPr>
          <a:xfrm rot="5400000">
            <a:off x="10124088" y="2442369"/>
            <a:ext cx="460382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45A62-BCD1-466C-3523-277CEBB9F72A}"/>
              </a:ext>
            </a:extLst>
          </p:cNvPr>
          <p:cNvSpPr txBox="1"/>
          <p:nvPr/>
        </p:nvSpPr>
        <p:spPr>
          <a:xfrm>
            <a:off x="9742355" y="1659826"/>
            <a:ext cx="1871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상속</a:t>
            </a:r>
            <a:endParaRPr lang="en-US" altLang="ko-KR" sz="4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CEF64E7-E215-E05E-E3E4-D812FF234A4E}"/>
              </a:ext>
            </a:extLst>
          </p:cNvPr>
          <p:cNvSpPr/>
          <p:nvPr/>
        </p:nvSpPr>
        <p:spPr>
          <a:xfrm rot="13087699">
            <a:off x="3951966" y="2632608"/>
            <a:ext cx="1511199" cy="38317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8055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11160</TotalTime>
  <Words>162</Words>
  <Application>Microsoft Macintosh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Apple SD Gothic Neo</vt:lpstr>
      <vt:lpstr>맑은 고딕</vt:lpstr>
      <vt:lpstr>Arial</vt:lpstr>
      <vt:lpstr>Calibri</vt:lpstr>
      <vt:lpstr>Office 테마</vt:lpstr>
      <vt:lpstr>디자인 패턴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 패턴</dc:title>
  <dc:creator>Namkung Seong</dc:creator>
  <cp:lastModifiedBy>seong Namkung</cp:lastModifiedBy>
  <cp:revision>224</cp:revision>
  <cp:lastPrinted>2026-03-15T06:26:12Z</cp:lastPrinted>
  <dcterms:created xsi:type="dcterms:W3CDTF">2023-10-12T23:55:57Z</dcterms:created>
  <dcterms:modified xsi:type="dcterms:W3CDTF">2026-03-26T23:20:23Z</dcterms:modified>
</cp:coreProperties>
</file>